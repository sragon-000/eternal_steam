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62" r:id="rId4"/>
    <p:sldId id="258" r:id="rId5"/>
    <p:sldId id="259" r:id="rId6"/>
    <p:sldId id="260" r:id="rId7"/>
    <p:sldId id="261" r:id="rId8"/>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Eternal Steam을 만들며 생긴 의문에서 출발했습니다. 공격 범위와 적 밀도에 따라 탐색 속도가 달라지는지 비교할 계획입니다. 아직 실험 결과는 없습니다.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구현 확인 자료: https://github.com/imset3/Eternal_Steam/blob/main/Assets/HordeDemo/Scripts/HordeSimulation.cs . 적은 배열과 재사용 슬롯으로 관리합니다. 화살은 발사마다 최대 4,000개의 슬롯을 순회하고, 다른 공격은 관련 격자에서 후보를 조회합니다. 이 차이는 연구의 출발점이며, 현재 방식들이 공정한 알고리즘 비교 실험은 아닙니다.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공격 규칙 출처: https://github.com/imset3/Eternal_Steam/blob/main/Assets/HordeDemo/Scripts/HordeSimulation.cs 및 HordeTowerKind.cs . 대포는 사선으로 폭발 중심을 정한 뒤 원형 범위 안의 적을 조회합니다. 여기서는 폭발 범위 탐색을 구분해 설명합니다. 기관총은 최근접 한 명, 나머지는 여러 대상이라는 차이가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RQ1: 조건별 탐색 방식의 성능 역전이 있는가? RQ2: 선택 비용까지 포함한 적응형 방식이 강한 고정 기준선보다 유리한가? RQ3: 효과가 게임 전체로 이어지는가? 동일한 공격 판정과 경계 처리를 사용하고 기관총의 동거리 표적은 안정적인 ID로 결정합니다. 격자 크기를 조정한 고정 방식과도 비교해야 합니다. 적응형 방식은 예비실험 결과에 따라 설계할 후보이며 효과를 전제하지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실험 조건의 구체적 수준은 예비실험 후 확정합니다. 적 수, 밀집도, 공격 범위, 포탑 수를 단계적으로 변경하고 처음부터 모든 조합을 확장하지 않습니다. 탐색 단독 비교에서는 같은 적 스냅샷으로 정확도를 검사합니다. 전투에서는 고정 시간 간격과 난수 시드, 같은 생성 일정, 배치와 렌더링을 사용합니다. 에디터 대신 빌드를 예열하고 여러 번 측정합니다. 프레임 저하와 GPU 병목을 구분합니다.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기여이지 결과가 아닙니다. 탐색 비용이 전체 프레임에서 작거나 GPU가 병목이면 전체 성능 개선이 제한될 수 있습니다. 그 조건까지 설명하는 것이 목표입니다. 우선 선행연구를 검토하고 현재 코드의 병목 비중을 계측합니다. 방식별 성능이 역전되는 조건을 확인한 뒤 적응형 선택이 필요한지 결정하고, 별도 시드와 조건에서 검증합니다. 발표 후 논의할 사항: 연구 범위의 적절성, 비교 기준선, 대상 학회와 필요한 기여 수준.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4E2831A1-2D11-4803-8988-B4385D7E542B}"/>
              </a:ext>
            </a:extLst>
          </p:cNvPr>
          <p:cNvSpPr>
            <a:spLocks noGrp="1"/>
          </p:cNvSpPr>
          <p:nvPr/>
        </p:nvSpPr>
        <p:spPr>
          <a:xfrm>
            <a:off x="685800" y="1285875"/>
            <a:ext cx="10820400" cy="1809750"/>
          </a:xfrm>
          <a:prstGeom prst="rect">
            <a:avLst/>
          </a:prstGeom>
          <a:noFill/>
          <a:ln w="0">
            <a:noFill/>
          </a:ln>
        </p:spPr>
        <p:txBody>
          <a:bodyPr>
            <a:noAutofit/>
          </a:bodyPr>
          <a:lstStyle/>
          <a:p>
            <a:pPr>
              <a:defRPr sz="4200" b="1">
                <a:solidFill>
                  <a:srgbClr val="142D45"/>
                </a:solidFill>
                <a:latin typeface="Noto Sans CJK KR"/>
                <a:ea typeface="Noto Sans CJK KR"/>
                <a:cs typeface="Noto Sans CJK KR"/>
              </a:defRPr>
            </a:pPr>
            <a:r>
              <a:rPr sz="4200" b="1">
                <a:solidFill>
                  <a:srgbClr val="142D45"/>
                </a:solidFill>
                <a:latin typeface="Noto Sans CJK KR"/>
                <a:ea typeface="Noto Sans CJK KR"/>
                <a:cs typeface="Noto Sans CJK KR"/>
              </a:rPr>
              <a:t>대규모 디펜스 게임의</a:t>
            </a:r>
          </a:p>
          <a:p>
            <a:pPr>
              <a:defRPr sz="4200" b="1">
                <a:solidFill>
                  <a:srgbClr val="142D45"/>
                </a:solidFill>
                <a:latin typeface="Noto Sans CJK KR"/>
                <a:ea typeface="Noto Sans CJK KR"/>
                <a:cs typeface="Noto Sans CJK KR"/>
              </a:defRPr>
            </a:pPr>
            <a:r>
              <a:rPr sz="4200" b="1">
                <a:solidFill>
                  <a:srgbClr val="142D45"/>
                </a:solidFill>
                <a:latin typeface="Noto Sans CJK KR"/>
                <a:ea typeface="Noto Sans CJK KR"/>
                <a:cs typeface="Noto Sans CJK KR"/>
              </a:rPr>
              <a:t>표적 탐색 최적화 연구</a:t>
            </a:r>
          </a:p>
        </p:txBody>
      </p:sp>
      <p:sp>
        <p:nvSpPr>
          <p:cNvPr id="2" name="직사각형 1">
            <a:extLst>
              <a:ext uri="{FF2B5EF4-FFF2-40B4-BE49-F238E27FC236}">
                <a16:creationId xmlns:a16="http://schemas.microsoft.com/office/drawing/2014/main" id="{477A5998-3372-4EAE-B71A-C35E6C58B259}"/>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01</a:t>
            </a:r>
          </a:p>
        </p:txBody>
      </p:sp>
      <p:sp>
        <p:nvSpPr>
          <p:cNvPr id="3" name="직사각형 2">
            <a:extLst>
              <a:ext uri="{FF2B5EF4-FFF2-40B4-BE49-F238E27FC236}">
                <a16:creationId xmlns:a16="http://schemas.microsoft.com/office/drawing/2014/main" id="{497ABB36-55E2-445F-B991-7F98A23346F2}"/>
              </a:ext>
            </a:extLst>
          </p:cNvPr>
          <p:cNvSpPr>
            <a:spLocks noGrp="1"/>
          </p:cNvSpPr>
          <p:nvPr/>
        </p:nvSpPr>
        <p:spPr>
          <a:xfrm>
            <a:off x="723900" y="3429000"/>
            <a:ext cx="10477500" cy="571500"/>
          </a:xfrm>
          <a:prstGeom prst="rect">
            <a:avLst/>
          </a:prstGeom>
          <a:noFill/>
          <a:ln w="0">
            <a:noFill/>
          </a:ln>
        </p:spPr>
        <p:txBody>
          <a:bodyPr>
            <a:noAutofit/>
          </a:bodyPr>
          <a:lstStyle/>
          <a:p>
            <a:pPr>
              <a:defRPr sz="2400" b="0">
                <a:solidFill>
                  <a:srgbClr val="186B9A"/>
                </a:solidFill>
                <a:latin typeface="Noto Sans CJK KR"/>
                <a:ea typeface="Noto Sans CJK KR"/>
                <a:cs typeface="Noto Sans CJK KR"/>
              </a:defRPr>
            </a:pPr>
            <a:r>
              <a:rPr sz="2400" b="0">
                <a:solidFill>
                  <a:srgbClr val="186B9A"/>
                </a:solidFill>
                <a:latin typeface="Noto Sans CJK KR"/>
                <a:ea typeface="Noto Sans CJK KR"/>
                <a:cs typeface="Noto Sans CJK KR"/>
              </a:rPr>
              <a:t>공격 범위와 적 밀도에 따른 성능 비교</a:t>
            </a:r>
          </a:p>
        </p:txBody>
      </p:sp>
      <mc:AlternateContent xmlns:mc="http://schemas.openxmlformats.org/markup-compatibility/2006" xmlns:a14="http://schemas.microsoft.com/office/drawing/2010/main">
        <mc:Choice Requires="a14">
          <p:sp>
            <p:nvSpPr>
              <p:cNvPr id="4" name="직사각형 3">
                <a:extLst>
                  <a:ext uri="{FF2B5EF4-FFF2-40B4-BE49-F238E27FC236}">
                    <a16:creationId xmlns:a16="http://schemas.microsoft.com/office/drawing/2014/main" id="{77055F76-E41C-496C-A192-FB591D943657}"/>
                  </a:ext>
                </a:extLst>
              </p:cNvPr>
              <p:cNvSpPr>
                <a:spLocks noGrp="1"/>
              </p:cNvSpPr>
              <p:nvPr/>
            </p:nvSpPr>
            <p:spPr>
              <a:xfrm>
                <a:off x="723900" y="4476750"/>
                <a:ext cx="10477500" cy="457200"/>
              </a:xfrm>
              <a:prstGeom prst="rect">
                <a:avLst/>
              </a:prstGeom>
              <a:noFill/>
              <a:ln w="0">
                <a:noFill/>
              </a:ln>
            </p:spPr>
            <p:txBody>
              <a:bodyPr>
                <a:noAutofit/>
              </a:bodyPr>
              <a:lstStyle/>
              <a:p>
                <a:pPr>
                  <a:defRPr sz="2025" b="0">
                    <a:solidFill>
                      <a:srgbClr val="526376"/>
                    </a:solidFill>
                    <a:latin typeface="Noto Sans CJK KR"/>
                    <a:ea typeface="Noto Sans CJK KR"/>
                    <a:cs typeface="Noto Sans CJK KR"/>
                  </a:defRPr>
                </a:pPr>
                <a:r>
                  <a:rPr lang="en-US" sz="2025" dirty="0">
                    <a:solidFill>
                      <a:srgbClr val="526376"/>
                    </a:solidFill>
                    <a:latin typeface="Noto Sans CJK KR"/>
                    <a:ea typeface="Noto Sans CJK KR"/>
                    <a:cs typeface="Noto Sans CJK KR"/>
                  </a:rPr>
                  <a:t>LCL </a:t>
                </a:r>
                <a:r>
                  <a:rPr lang="ko-KR" altLang="en-US" sz="2025" dirty="0">
                    <a:solidFill>
                      <a:srgbClr val="526376"/>
                    </a:solidFill>
                    <a:latin typeface="Noto Sans CJK KR"/>
                    <a:ea typeface="Noto Sans CJK KR"/>
                    <a:cs typeface="Noto Sans CJK KR"/>
                  </a:rPr>
                  <a:t>임셋 </a:t>
                </a:r>
                <a14:m>
                  <m:oMath xmlns:m="http://schemas.openxmlformats.org/officeDocument/2006/math">
                    <m:r>
                      <a:rPr lang="en-US" altLang="ko-KR" sz="2025" b="0" i="1" smtClean="0">
                        <a:solidFill>
                          <a:srgbClr val="526376"/>
                        </a:solidFill>
                        <a:latin typeface="Cambria Math" panose="02040503050406030204" pitchFamily="18" charset="0"/>
                        <a:ea typeface="Noto Sans CJK KR"/>
                        <a:cs typeface="Noto Sans CJK KR"/>
                      </a:rPr>
                      <m:t>•</m:t>
                    </m:r>
                    <m:r>
                      <a:rPr lang="ko-KR" altLang="en-US" sz="2025" i="1">
                        <a:solidFill>
                          <a:srgbClr val="526376"/>
                        </a:solidFill>
                        <a:latin typeface="Cambria Math" panose="02040503050406030204" pitchFamily="18" charset="0"/>
                        <a:ea typeface="Noto Sans CJK KR"/>
                        <a:cs typeface="Noto Sans CJK KR"/>
                      </a:rPr>
                      <m:t>강</m:t>
                    </m:r>
                    <m:r>
                      <a:rPr lang="ko-KR" altLang="en-US" sz="2025" i="1" smtClean="0">
                        <a:solidFill>
                          <a:srgbClr val="526376"/>
                        </a:solidFill>
                        <a:latin typeface="Cambria Math" panose="02040503050406030204" pitchFamily="18" charset="0"/>
                        <a:ea typeface="Noto Sans CJK KR"/>
                        <a:cs typeface="Noto Sans CJK KR"/>
                      </a:rPr>
                      <m:t>재</m:t>
                    </m:r>
                    <m:r>
                      <a:rPr lang="ko-KR" altLang="en-US" sz="2025" i="1">
                        <a:solidFill>
                          <a:srgbClr val="526376"/>
                        </a:solidFill>
                        <a:latin typeface="Cambria Math" panose="02040503050406030204" pitchFamily="18" charset="0"/>
                        <a:ea typeface="Noto Sans CJK KR"/>
                        <a:cs typeface="Noto Sans CJK KR"/>
                      </a:rPr>
                      <m:t>원</m:t>
                    </m:r>
                  </m:oMath>
                </a14:m>
                <a:endParaRPr sz="2025" b="0" dirty="0">
                  <a:solidFill>
                    <a:srgbClr val="526376"/>
                  </a:solidFill>
                  <a:latin typeface="Noto Sans CJK KR"/>
                  <a:ea typeface="Noto Sans CJK KR"/>
                  <a:cs typeface="Noto Sans CJK KR"/>
                </a:endParaRPr>
              </a:p>
            </p:txBody>
          </p:sp>
        </mc:Choice>
        <mc:Fallback xmlns="">
          <p:sp>
            <p:nvSpPr>
              <p:cNvPr id="4" name="직사각형 3">
                <a:extLst>
                  <a:ext uri="{FF2B5EF4-FFF2-40B4-BE49-F238E27FC236}">
                    <a16:creationId xmlns:a16="http://schemas.microsoft.com/office/drawing/2014/main" id="{77055F76-E41C-496C-A192-FB591D943657}"/>
                  </a:ext>
                </a:extLst>
              </p:cNvPr>
              <p:cNvSpPr>
                <a:spLocks noGrp="1" noRot="1" noChangeAspect="1" noMove="1" noResize="1" noEditPoints="1" noAdjustHandles="1" noChangeArrowheads="1" noChangeShapeType="1" noTextEdit="1"/>
              </p:cNvSpPr>
              <p:nvPr/>
            </p:nvSpPr>
            <p:spPr>
              <a:xfrm>
                <a:off x="723900" y="4476750"/>
                <a:ext cx="10477500" cy="457200"/>
              </a:xfrm>
              <a:prstGeom prst="rect">
                <a:avLst/>
              </a:prstGeom>
              <a:blipFill>
                <a:blip r:embed="rId3"/>
                <a:stretch>
                  <a:fillRect l="-726" t="-8108" b="-13514"/>
                </a:stretch>
              </a:blipFill>
              <a:ln w="0">
                <a:noFill/>
              </a:ln>
            </p:spPr>
            <p:txBody>
              <a:bodyPr/>
              <a:lstStyle/>
              <a:p>
                <a:r>
                  <a:rPr lang="ko-KR" altLang="en-US">
                    <a:noFill/>
                  </a:rPr>
                  <a:t> </a:t>
                </a:r>
              </a:p>
            </p:txBody>
          </p:sp>
        </mc:Fallback>
      </mc:AlternateContent>
      <p:sp>
        <p:nvSpPr>
          <p:cNvPr id="5" name="직사각형 4">
            <a:extLst>
              <a:ext uri="{FF2B5EF4-FFF2-40B4-BE49-F238E27FC236}">
                <a16:creationId xmlns:a16="http://schemas.microsoft.com/office/drawing/2014/main" id="{E2177CFD-49DA-4E1A-9F9F-854E506BFD11}"/>
              </a:ext>
            </a:extLst>
          </p:cNvPr>
          <p:cNvSpPr>
            <a:spLocks noGrp="1"/>
          </p:cNvSpPr>
          <p:nvPr/>
        </p:nvSpPr>
        <p:spPr>
          <a:xfrm>
            <a:off x="723900" y="5238750"/>
            <a:ext cx="10477500" cy="428625"/>
          </a:xfrm>
          <a:prstGeom prst="rect">
            <a:avLst/>
          </a:prstGeom>
          <a:noFill/>
          <a:ln w="0">
            <a:noFill/>
          </a:ln>
        </p:spPr>
        <p:txBody>
          <a:bodyPr>
            <a:noAutofit/>
          </a:bodyPr>
          <a:lstStyle/>
          <a:p>
            <a:pPr>
              <a:defRPr sz="1800" b="0">
                <a:solidFill>
                  <a:srgbClr val="526376"/>
                </a:solidFill>
                <a:latin typeface="Noto Sans CJK KR"/>
                <a:ea typeface="Noto Sans CJK KR"/>
                <a:cs typeface="Noto Sans CJK KR"/>
              </a:defRPr>
            </a:pPr>
            <a:r>
              <a:rPr sz="1800" b="0" dirty="0" err="1">
                <a:solidFill>
                  <a:srgbClr val="526376"/>
                </a:solidFill>
                <a:latin typeface="Noto Sans CJK KR"/>
                <a:ea typeface="Noto Sans CJK KR"/>
                <a:cs typeface="Noto Sans CJK KR"/>
              </a:rPr>
              <a:t>연구</a:t>
            </a:r>
            <a:r>
              <a:rPr sz="1800" b="0" dirty="0">
                <a:solidFill>
                  <a:srgbClr val="526376"/>
                </a:solidFill>
                <a:latin typeface="Noto Sans CJK KR"/>
                <a:ea typeface="Noto Sans CJK KR"/>
                <a:cs typeface="Noto Sans CJK KR"/>
              </a:rPr>
              <a:t> </a:t>
            </a:r>
            <a:r>
              <a:rPr sz="1800" b="0" dirty="0" err="1">
                <a:solidFill>
                  <a:srgbClr val="526376"/>
                </a:solidFill>
                <a:latin typeface="Noto Sans CJK KR"/>
                <a:ea typeface="Noto Sans CJK KR"/>
                <a:cs typeface="Noto Sans CJK KR"/>
              </a:rPr>
              <a:t>계획</a:t>
            </a:r>
            <a:endParaRPr sz="1800" b="0" dirty="0">
              <a:solidFill>
                <a:srgbClr val="526376"/>
              </a:solidFill>
              <a:latin typeface="Noto Sans CJK KR"/>
              <a:ea typeface="Noto Sans CJK KR"/>
              <a:cs typeface="Noto Sans CJK KR"/>
            </a:endParaRPr>
          </a:p>
        </p:txBody>
      </p:sp>
    </p:spTree>
    <p:extLst>
      <p:ext uri="{BB962C8B-B14F-4D97-AF65-F5344CB8AC3E}">
        <p14:creationId xmlns:p14="http://schemas.microsoft.com/office/powerpoint/2010/main" val="1258752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690B1EA3-7D9D-4DA7-89E6-3770A93F25ED}"/>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개발 중 생긴 의문</a:t>
            </a:r>
          </a:p>
        </p:txBody>
      </p:sp>
      <p:sp>
        <p:nvSpPr>
          <p:cNvPr id="2" name="직사각형 1">
            <a:extLst>
              <a:ext uri="{FF2B5EF4-FFF2-40B4-BE49-F238E27FC236}">
                <a16:creationId xmlns:a16="http://schemas.microsoft.com/office/drawing/2014/main" id="{354D6114-569E-4C6E-BE65-4047BC3B72D2}"/>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02</a:t>
            </a:r>
          </a:p>
        </p:txBody>
      </p:sp>
      <p:sp>
        <p:nvSpPr>
          <p:cNvPr id="3" name="직사각형 2">
            <a:extLst>
              <a:ext uri="{FF2B5EF4-FFF2-40B4-BE49-F238E27FC236}">
                <a16:creationId xmlns:a16="http://schemas.microsoft.com/office/drawing/2014/main" id="{749478CF-ECB9-4866-89C5-DFE23CD4B2E4}"/>
              </a:ext>
            </a:extLst>
          </p:cNvPr>
          <p:cNvSpPr>
            <a:spLocks noGrp="1"/>
          </p:cNvSpPr>
          <p:nvPr/>
        </p:nvSpPr>
        <p:spPr>
          <a:xfrm>
            <a:off x="723900" y="166687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포탑 종류 추가</a:t>
            </a:r>
          </a:p>
        </p:txBody>
      </p:sp>
      <p:sp>
        <p:nvSpPr>
          <p:cNvPr id="4" name="직사각형 3">
            <a:extLst>
              <a:ext uri="{FF2B5EF4-FFF2-40B4-BE49-F238E27FC236}">
                <a16:creationId xmlns:a16="http://schemas.microsoft.com/office/drawing/2014/main" id="{FE75A374-A707-4627-9820-34A460D38A91}"/>
              </a:ext>
            </a:extLst>
          </p:cNvPr>
          <p:cNvSpPr>
            <a:spLocks noGrp="1"/>
          </p:cNvSpPr>
          <p:nvPr/>
        </p:nvSpPr>
        <p:spPr>
          <a:xfrm>
            <a:off x="723900" y="214312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기관총, 화살, 대포, 냉각. 포탑마다 공격 범위가 다르다.</a:t>
            </a:r>
          </a:p>
        </p:txBody>
      </p:sp>
      <p:sp>
        <p:nvSpPr>
          <p:cNvPr id="5" name="직사각형 4">
            <a:extLst>
              <a:ext uri="{FF2B5EF4-FFF2-40B4-BE49-F238E27FC236}">
                <a16:creationId xmlns:a16="http://schemas.microsoft.com/office/drawing/2014/main" id="{E14EF87B-8495-4A58-8878-334729AFAABC}"/>
              </a:ext>
            </a:extLst>
          </p:cNvPr>
          <p:cNvSpPr>
            <a:spLocks noGrp="1"/>
          </p:cNvSpPr>
          <p:nvPr/>
        </p:nvSpPr>
        <p:spPr>
          <a:xfrm>
            <a:off x="723900" y="3143250"/>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적을 찾는 방법도 달라야 할까?</a:t>
            </a:r>
          </a:p>
        </p:txBody>
      </p:sp>
      <p:sp>
        <p:nvSpPr>
          <p:cNvPr id="6" name="직사각형 5">
            <a:extLst>
              <a:ext uri="{FF2B5EF4-FFF2-40B4-BE49-F238E27FC236}">
                <a16:creationId xmlns:a16="http://schemas.microsoft.com/office/drawing/2014/main" id="{7633B678-685B-49A2-A92F-7C7EEF3D0371}"/>
              </a:ext>
            </a:extLst>
          </p:cNvPr>
          <p:cNvSpPr>
            <a:spLocks noGrp="1"/>
          </p:cNvSpPr>
          <p:nvPr/>
        </p:nvSpPr>
        <p:spPr>
          <a:xfrm>
            <a:off x="723900" y="3619500"/>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좁은 사선과 넓은 범위에 같은 방식을 써도 될까?</a:t>
            </a:r>
          </a:p>
        </p:txBody>
      </p:sp>
      <p:sp>
        <p:nvSpPr>
          <p:cNvPr id="7" name="직사각형 6">
            <a:extLst>
              <a:ext uri="{FF2B5EF4-FFF2-40B4-BE49-F238E27FC236}">
                <a16:creationId xmlns:a16="http://schemas.microsoft.com/office/drawing/2014/main" id="{EA08F75C-B9F5-467C-8C4B-8A3CD7B85997}"/>
              </a:ext>
            </a:extLst>
          </p:cNvPr>
          <p:cNvSpPr>
            <a:spLocks noGrp="1"/>
          </p:cNvSpPr>
          <p:nvPr/>
        </p:nvSpPr>
        <p:spPr>
          <a:xfrm>
            <a:off x="723900" y="4619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게임 성능에도 차이가 날까?</a:t>
            </a:r>
          </a:p>
        </p:txBody>
      </p:sp>
      <p:sp>
        <p:nvSpPr>
          <p:cNvPr id="8" name="직사각형 7">
            <a:extLst>
              <a:ext uri="{FF2B5EF4-FFF2-40B4-BE49-F238E27FC236}">
                <a16:creationId xmlns:a16="http://schemas.microsoft.com/office/drawing/2014/main" id="{5E8461C5-DD94-4958-ACEC-4446439AD810}"/>
              </a:ext>
            </a:extLst>
          </p:cNvPr>
          <p:cNvSpPr>
            <a:spLocks noGrp="1"/>
          </p:cNvSpPr>
          <p:nvPr/>
        </p:nvSpPr>
        <p:spPr>
          <a:xfrm>
            <a:off x="723900" y="5095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적이 많을수록 탐색 방식의 차이가 커질까?</a:t>
            </a:r>
          </a:p>
        </p:txBody>
      </p:sp>
    </p:spTree>
    <p:extLst>
      <p:ext uri="{BB962C8B-B14F-4D97-AF65-F5344CB8AC3E}">
        <p14:creationId xmlns:p14="http://schemas.microsoft.com/office/powerpoint/2010/main" val="1055756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18B828D4-5636-C6F2-704D-F7AB4CE21788}"/>
              </a:ext>
            </a:extLst>
          </p:cNvPr>
          <p:cNvPicPr>
            <a:picLocks noChangeAspect="1"/>
          </p:cNvPicPr>
          <p:nvPr/>
        </p:nvPicPr>
        <p:blipFill>
          <a:blip r:embed="rId2">
            <a:extLst>
              <a:ext uri="{28A0092B-C50C-407E-A947-70E740481C1C}">
                <a14:useLocalDpi xmlns:a14="http://schemas.microsoft.com/office/drawing/2010/main" val="0"/>
              </a:ext>
            </a:extLst>
          </a:blip>
          <a:srcRect l="21825" t="673"/>
          <a:stretch>
            <a:fillRect/>
          </a:stretch>
        </p:blipFill>
        <p:spPr>
          <a:xfrm>
            <a:off x="1169581" y="23076"/>
            <a:ext cx="4189228" cy="3408645"/>
          </a:xfrm>
          <a:prstGeom prst="rect">
            <a:avLst/>
          </a:prstGeom>
        </p:spPr>
      </p:pic>
      <p:pic>
        <p:nvPicPr>
          <p:cNvPr id="5" name="그림 4">
            <a:extLst>
              <a:ext uri="{FF2B5EF4-FFF2-40B4-BE49-F238E27FC236}">
                <a16:creationId xmlns:a16="http://schemas.microsoft.com/office/drawing/2014/main" id="{B1BD6402-4087-E044-2882-7EFC20906181}"/>
              </a:ext>
            </a:extLst>
          </p:cNvPr>
          <p:cNvPicPr>
            <a:picLocks noChangeAspect="1"/>
          </p:cNvPicPr>
          <p:nvPr/>
        </p:nvPicPr>
        <p:blipFill>
          <a:blip r:embed="rId3">
            <a:extLst>
              <a:ext uri="{28A0092B-C50C-407E-A947-70E740481C1C}">
                <a14:useLocalDpi xmlns:a14="http://schemas.microsoft.com/office/drawing/2010/main" val="0"/>
              </a:ext>
            </a:extLst>
          </a:blip>
          <a:srcRect l="23214" t="3647"/>
          <a:stretch>
            <a:fillRect/>
          </a:stretch>
        </p:blipFill>
        <p:spPr>
          <a:xfrm>
            <a:off x="1244010" y="3576294"/>
            <a:ext cx="4114800" cy="3281706"/>
          </a:xfrm>
          <a:prstGeom prst="rect">
            <a:avLst/>
          </a:prstGeom>
        </p:spPr>
      </p:pic>
      <p:pic>
        <p:nvPicPr>
          <p:cNvPr id="7" name="그림 6">
            <a:extLst>
              <a:ext uri="{FF2B5EF4-FFF2-40B4-BE49-F238E27FC236}">
                <a16:creationId xmlns:a16="http://schemas.microsoft.com/office/drawing/2014/main" id="{3BE9BD64-8F1C-13C4-4A38-7139F57D02D0}"/>
              </a:ext>
            </a:extLst>
          </p:cNvPr>
          <p:cNvPicPr>
            <a:picLocks noChangeAspect="1"/>
          </p:cNvPicPr>
          <p:nvPr/>
        </p:nvPicPr>
        <p:blipFill>
          <a:blip r:embed="rId4">
            <a:extLst>
              <a:ext uri="{28A0092B-C50C-407E-A947-70E740481C1C}">
                <a14:useLocalDpi xmlns:a14="http://schemas.microsoft.com/office/drawing/2010/main" val="0"/>
              </a:ext>
            </a:extLst>
          </a:blip>
          <a:srcRect l="24711" t="2970"/>
          <a:stretch>
            <a:fillRect/>
          </a:stretch>
        </p:blipFill>
        <p:spPr>
          <a:xfrm>
            <a:off x="6833193" y="124218"/>
            <a:ext cx="4106458" cy="3304781"/>
          </a:xfrm>
          <a:prstGeom prst="rect">
            <a:avLst/>
          </a:prstGeom>
        </p:spPr>
      </p:pic>
      <p:pic>
        <p:nvPicPr>
          <p:cNvPr id="9" name="그림 8">
            <a:extLst>
              <a:ext uri="{FF2B5EF4-FFF2-40B4-BE49-F238E27FC236}">
                <a16:creationId xmlns:a16="http://schemas.microsoft.com/office/drawing/2014/main" id="{02F46DB2-2E79-BAC7-4FD5-DF92FC10F615}"/>
              </a:ext>
            </a:extLst>
          </p:cNvPr>
          <p:cNvPicPr>
            <a:picLocks noChangeAspect="1"/>
          </p:cNvPicPr>
          <p:nvPr/>
        </p:nvPicPr>
        <p:blipFill>
          <a:blip r:embed="rId5">
            <a:extLst>
              <a:ext uri="{28A0092B-C50C-407E-A947-70E740481C1C}">
                <a14:useLocalDpi xmlns:a14="http://schemas.microsoft.com/office/drawing/2010/main" val="0"/>
              </a:ext>
            </a:extLst>
          </a:blip>
          <a:srcRect l="23012"/>
          <a:stretch>
            <a:fillRect/>
          </a:stretch>
        </p:blipFill>
        <p:spPr>
          <a:xfrm>
            <a:off x="6833192" y="3576294"/>
            <a:ext cx="3934738" cy="3157487"/>
          </a:xfrm>
          <a:prstGeom prst="rect">
            <a:avLst/>
          </a:prstGeom>
        </p:spPr>
      </p:pic>
    </p:spTree>
    <p:extLst>
      <p:ext uri="{BB962C8B-B14F-4D97-AF65-F5344CB8AC3E}">
        <p14:creationId xmlns:p14="http://schemas.microsoft.com/office/powerpoint/2010/main" val="330040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161F53FA-0C46-45AD-BD8A-2BC99CA2C0C9}"/>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포탑별 탐색 범위</a:t>
            </a:r>
          </a:p>
        </p:txBody>
      </p:sp>
      <p:sp>
        <p:nvSpPr>
          <p:cNvPr id="2" name="직사각형 1">
            <a:extLst>
              <a:ext uri="{FF2B5EF4-FFF2-40B4-BE49-F238E27FC236}">
                <a16:creationId xmlns:a16="http://schemas.microsoft.com/office/drawing/2014/main" id="{5A7D383B-6B4A-4039-BD61-B689B5356086}"/>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03</a:t>
            </a:r>
          </a:p>
        </p:txBody>
      </p:sp>
      <p:graphicFrame>
        <p:nvGraphicFramePr>
          <p:cNvPr id="7" name="표 6"/>
          <p:cNvGraphicFramePr/>
          <p:nvPr/>
        </p:nvGraphicFramePr>
        <p:xfrm>
          <a:off x="723900" y="1666875"/>
          <a:ext cx="10744200" cy="3333750"/>
        </p:xfrm>
        <a:graphic>
          <a:graphicData uri="http://schemas.openxmlformats.org/drawingml/2006/table">
            <a:tbl>
              <a:tblPr/>
              <a:tblGrid>
                <a:gridCol w="2238375">
                  <a:extLst>
                    <a:ext uri="{9D8B030D-6E8A-4147-A177-3AD203B41FA5}">
                      <a16:colId xmlns:a16="http://schemas.microsoft.com/office/drawing/2014/main" val="20000"/>
                    </a:ext>
                  </a:extLst>
                </a:gridCol>
                <a:gridCol w="3571875">
                  <a:extLst>
                    <a:ext uri="{9D8B030D-6E8A-4147-A177-3AD203B41FA5}">
                      <a16:colId xmlns:a16="http://schemas.microsoft.com/office/drawing/2014/main" val="20001"/>
                    </a:ext>
                  </a:extLst>
                </a:gridCol>
                <a:gridCol w="4933950">
                  <a:extLst>
                    <a:ext uri="{9D8B030D-6E8A-4147-A177-3AD203B41FA5}">
                      <a16:colId xmlns:a16="http://schemas.microsoft.com/office/drawing/2014/main" val="20002"/>
                    </a:ext>
                  </a:extLst>
                </a:gridCol>
              </a:tblGrid>
              <a:tr h="666750">
                <a:tc>
                  <a:txBody>
                    <a:bodyPr/>
                    <a:lstStyle/>
                    <a:p>
                      <a:r>
                        <a:rPr sz="2100" b="1">
                          <a:solidFill>
                            <a:srgbClr val="FFFFFF"/>
                          </a:solidFill>
                          <a:latin typeface="Noto Sans CJK KR"/>
                          <a:ea typeface="Noto Sans CJK KR"/>
                          <a:cs typeface="Noto Sans CJK KR"/>
                        </a:rPr>
                        <a:t>공격</a:t>
                      </a:r>
                    </a:p>
                  </a:txBody>
                  <a:tcPr>
                    <a:solidFill>
                      <a:srgbClr val="142D45"/>
                    </a:solidFill>
                  </a:tcPr>
                </a:tc>
                <a:tc>
                  <a:txBody>
                    <a:bodyPr/>
                    <a:lstStyle/>
                    <a:p>
                      <a:r>
                        <a:rPr sz="2100" b="1">
                          <a:solidFill>
                            <a:srgbClr val="FFFFFF"/>
                          </a:solidFill>
                          <a:latin typeface="Noto Sans CJK KR"/>
                          <a:ea typeface="Noto Sans CJK KR"/>
                          <a:cs typeface="Noto Sans CJK KR"/>
                        </a:rPr>
                        <a:t>탐색 영역</a:t>
                      </a:r>
                    </a:p>
                  </a:txBody>
                  <a:tcPr>
                    <a:solidFill>
                      <a:srgbClr val="142D45"/>
                    </a:solidFill>
                  </a:tcPr>
                </a:tc>
                <a:tc>
                  <a:txBody>
                    <a:bodyPr/>
                    <a:lstStyle/>
                    <a:p>
                      <a:r>
                        <a:rPr sz="2100" b="1">
                          <a:solidFill>
                            <a:srgbClr val="FFFFFF"/>
                          </a:solidFill>
                          <a:latin typeface="Noto Sans CJK KR"/>
                          <a:ea typeface="Noto Sans CJK KR"/>
                          <a:cs typeface="Noto Sans CJK KR"/>
                        </a:rPr>
                        <a:t>필요한 결과</a:t>
                      </a:r>
                    </a:p>
                  </a:txBody>
                  <a:tcPr>
                    <a:solidFill>
                      <a:srgbClr val="142D45"/>
                    </a:solidFill>
                  </a:tcPr>
                </a:tc>
                <a:extLst>
                  <a:ext uri="{0D108BD9-81ED-4DB2-BD59-A6C34878D82A}">
                    <a16:rowId xmlns:a16="http://schemas.microsoft.com/office/drawing/2014/main" val="10000"/>
                  </a:ext>
                </a:extLst>
              </a:tr>
              <a:tr h="666750">
                <a:tc>
                  <a:txBody>
                    <a:bodyPr/>
                    <a:lstStyle/>
                    <a:p>
                      <a:r>
                        <a:rPr sz="2100" b="0">
                          <a:solidFill>
                            <a:srgbClr val="142D45"/>
                          </a:solidFill>
                          <a:latin typeface="Noto Sans CJK KR"/>
                          <a:ea typeface="Noto Sans CJK KR"/>
                          <a:cs typeface="Noto Sans CJK KR"/>
                        </a:rPr>
                        <a:t>기관총</a:t>
                      </a:r>
                    </a:p>
                  </a:txBody>
                  <a:tcPr>
                    <a:solidFill>
                      <a:srgbClr val="F2F6F9"/>
                    </a:solidFill>
                  </a:tcPr>
                </a:tc>
                <a:tc>
                  <a:txBody>
                    <a:bodyPr/>
                    <a:lstStyle/>
                    <a:p>
                      <a:r>
                        <a:rPr sz="2100" b="0">
                          <a:solidFill>
                            <a:srgbClr val="142D45"/>
                          </a:solidFill>
                          <a:latin typeface="Noto Sans CJK KR"/>
                          <a:ea typeface="Noto Sans CJK KR"/>
                          <a:cs typeface="Noto Sans CJK KR"/>
                        </a:rPr>
                        <a:t>좁은 사선</a:t>
                      </a:r>
                    </a:p>
                  </a:txBody>
                  <a:tcPr>
                    <a:solidFill>
                      <a:srgbClr val="F2F6F9"/>
                    </a:solidFill>
                  </a:tcPr>
                </a:tc>
                <a:tc>
                  <a:txBody>
                    <a:bodyPr/>
                    <a:lstStyle/>
                    <a:p>
                      <a:r>
                        <a:rPr sz="2100" b="0">
                          <a:solidFill>
                            <a:srgbClr val="142D45"/>
                          </a:solidFill>
                          <a:latin typeface="Noto Sans CJK KR"/>
                          <a:ea typeface="Noto Sans CJK KR"/>
                          <a:cs typeface="Noto Sans CJK KR"/>
                        </a:rPr>
                        <a:t>가장 가까운 적 1명</a:t>
                      </a:r>
                    </a:p>
                  </a:txBody>
                  <a:tcPr>
                    <a:solidFill>
                      <a:srgbClr val="F2F6F9"/>
                    </a:solidFill>
                  </a:tcPr>
                </a:tc>
                <a:extLst>
                  <a:ext uri="{0D108BD9-81ED-4DB2-BD59-A6C34878D82A}">
                    <a16:rowId xmlns:a16="http://schemas.microsoft.com/office/drawing/2014/main" val="10001"/>
                  </a:ext>
                </a:extLst>
              </a:tr>
              <a:tr h="666750">
                <a:tc>
                  <a:txBody>
                    <a:bodyPr/>
                    <a:lstStyle/>
                    <a:p>
                      <a:r>
                        <a:rPr sz="2100" b="0">
                          <a:solidFill>
                            <a:srgbClr val="142D45"/>
                          </a:solidFill>
                          <a:latin typeface="Noto Sans CJK KR"/>
                          <a:ea typeface="Noto Sans CJK KR"/>
                          <a:cs typeface="Noto Sans CJK KR"/>
                        </a:rPr>
                        <a:t>관통 화살</a:t>
                      </a:r>
                    </a:p>
                  </a:txBody>
                  <a:tcPr>
                    <a:solidFill>
                      <a:srgbClr val="FFFFFF"/>
                    </a:solidFill>
                  </a:tcPr>
                </a:tc>
                <a:tc>
                  <a:txBody>
                    <a:bodyPr/>
                    <a:lstStyle/>
                    <a:p>
                      <a:r>
                        <a:rPr sz="2100" b="0">
                          <a:solidFill>
                            <a:srgbClr val="142D45"/>
                          </a:solidFill>
                          <a:latin typeface="Noto Sans CJK KR"/>
                          <a:ea typeface="Noto Sans CJK KR"/>
                          <a:cs typeface="Noto Sans CJK KR"/>
                        </a:rPr>
                        <a:t>좁은 사선</a:t>
                      </a:r>
                    </a:p>
                  </a:txBody>
                  <a:tcPr>
                    <a:solidFill>
                      <a:srgbClr val="FFFFFF"/>
                    </a:solidFill>
                  </a:tcPr>
                </a:tc>
                <a:tc>
                  <a:txBody>
                    <a:bodyPr/>
                    <a:lstStyle/>
                    <a:p>
                      <a:r>
                        <a:rPr sz="2100" b="0">
                          <a:solidFill>
                            <a:srgbClr val="142D45"/>
                          </a:solidFill>
                          <a:latin typeface="Noto Sans CJK KR"/>
                          <a:ea typeface="Noto Sans CJK KR"/>
                          <a:cs typeface="Noto Sans CJK KR"/>
                        </a:rPr>
                        <a:t>범위 안의 모든 적</a:t>
                      </a:r>
                    </a:p>
                  </a:txBody>
                  <a:tcPr>
                    <a:solidFill>
                      <a:srgbClr val="FFFFFF"/>
                    </a:solidFill>
                  </a:tcPr>
                </a:tc>
                <a:extLst>
                  <a:ext uri="{0D108BD9-81ED-4DB2-BD59-A6C34878D82A}">
                    <a16:rowId xmlns:a16="http://schemas.microsoft.com/office/drawing/2014/main" val="10002"/>
                  </a:ext>
                </a:extLst>
              </a:tr>
              <a:tr h="666750">
                <a:tc>
                  <a:txBody>
                    <a:bodyPr/>
                    <a:lstStyle/>
                    <a:p>
                      <a:r>
                        <a:rPr sz="2100" b="0">
                          <a:solidFill>
                            <a:srgbClr val="142D45"/>
                          </a:solidFill>
                          <a:latin typeface="Noto Sans CJK KR"/>
                          <a:ea typeface="Noto Sans CJK KR"/>
                          <a:cs typeface="Noto Sans CJK KR"/>
                        </a:rPr>
                        <a:t>대포</a:t>
                      </a:r>
                    </a:p>
                  </a:txBody>
                  <a:tcPr>
                    <a:solidFill>
                      <a:srgbClr val="F2F6F9"/>
                    </a:solidFill>
                  </a:tcPr>
                </a:tc>
                <a:tc>
                  <a:txBody>
                    <a:bodyPr/>
                    <a:lstStyle/>
                    <a:p>
                      <a:r>
                        <a:rPr sz="2100" b="0">
                          <a:solidFill>
                            <a:srgbClr val="142D45"/>
                          </a:solidFill>
                          <a:latin typeface="Noto Sans CJK KR"/>
                          <a:ea typeface="Noto Sans CJK KR"/>
                          <a:cs typeface="Noto Sans CJK KR"/>
                        </a:rPr>
                        <a:t>원형 폭발 범위</a:t>
                      </a:r>
                    </a:p>
                  </a:txBody>
                  <a:tcPr>
                    <a:solidFill>
                      <a:srgbClr val="F2F6F9"/>
                    </a:solidFill>
                  </a:tcPr>
                </a:tc>
                <a:tc>
                  <a:txBody>
                    <a:bodyPr/>
                    <a:lstStyle/>
                    <a:p>
                      <a:r>
                        <a:rPr sz="2100" b="0">
                          <a:solidFill>
                            <a:srgbClr val="142D45"/>
                          </a:solidFill>
                          <a:latin typeface="Noto Sans CJK KR"/>
                          <a:ea typeface="Noto Sans CJK KR"/>
                          <a:cs typeface="Noto Sans CJK KR"/>
                        </a:rPr>
                        <a:t>범위 안의 모든 적</a:t>
                      </a:r>
                    </a:p>
                  </a:txBody>
                  <a:tcPr>
                    <a:solidFill>
                      <a:srgbClr val="F2F6F9"/>
                    </a:solidFill>
                  </a:tcPr>
                </a:tc>
                <a:extLst>
                  <a:ext uri="{0D108BD9-81ED-4DB2-BD59-A6C34878D82A}">
                    <a16:rowId xmlns:a16="http://schemas.microsoft.com/office/drawing/2014/main" val="10003"/>
                  </a:ext>
                </a:extLst>
              </a:tr>
              <a:tr h="666750">
                <a:tc>
                  <a:txBody>
                    <a:bodyPr/>
                    <a:lstStyle/>
                    <a:p>
                      <a:r>
                        <a:rPr sz="2100" b="0">
                          <a:solidFill>
                            <a:srgbClr val="142D45"/>
                          </a:solidFill>
                          <a:latin typeface="Noto Sans CJK KR"/>
                          <a:ea typeface="Noto Sans CJK KR"/>
                          <a:cs typeface="Noto Sans CJK KR"/>
                        </a:rPr>
                        <a:t>냉각</a:t>
                      </a:r>
                    </a:p>
                  </a:txBody>
                  <a:tcPr>
                    <a:solidFill>
                      <a:srgbClr val="FFFFFF"/>
                    </a:solidFill>
                  </a:tcPr>
                </a:tc>
                <a:tc>
                  <a:txBody>
                    <a:bodyPr/>
                    <a:lstStyle/>
                    <a:p>
                      <a:r>
                        <a:rPr sz="2100" b="0">
                          <a:solidFill>
                            <a:srgbClr val="142D45"/>
                          </a:solidFill>
                          <a:latin typeface="Noto Sans CJK KR"/>
                          <a:ea typeface="Noto Sans CJK KR"/>
                          <a:cs typeface="Noto Sans CJK KR"/>
                        </a:rPr>
                        <a:t>부채꼴 범위</a:t>
                      </a:r>
                    </a:p>
                  </a:txBody>
                  <a:tcPr>
                    <a:solidFill>
                      <a:srgbClr val="FFFFFF"/>
                    </a:solidFill>
                  </a:tcPr>
                </a:tc>
                <a:tc>
                  <a:txBody>
                    <a:bodyPr/>
                    <a:lstStyle/>
                    <a:p>
                      <a:r>
                        <a:rPr sz="2100" b="0">
                          <a:solidFill>
                            <a:srgbClr val="142D45"/>
                          </a:solidFill>
                          <a:latin typeface="Noto Sans CJK KR"/>
                          <a:ea typeface="Noto Sans CJK KR"/>
                          <a:cs typeface="Noto Sans CJK KR"/>
                        </a:rPr>
                        <a:t>범위 안의 모든 적</a:t>
                      </a:r>
                    </a:p>
                  </a:txBody>
                  <a:tcPr>
                    <a:solidFill>
                      <a:srgbClr val="FFFFFF"/>
                    </a:solidFill>
                  </a:tcPr>
                </a:tc>
                <a:extLst>
                  <a:ext uri="{0D108BD9-81ED-4DB2-BD59-A6C34878D82A}">
                    <a16:rowId xmlns:a16="http://schemas.microsoft.com/office/drawing/2014/main" val="10004"/>
                  </a:ext>
                </a:extLst>
              </a:tr>
            </a:tbl>
          </a:graphicData>
        </a:graphic>
      </p:graphicFrame>
      <p:sp>
        <p:nvSpPr>
          <p:cNvPr id="4" name="직사각형 3">
            <a:extLst>
              <a:ext uri="{FF2B5EF4-FFF2-40B4-BE49-F238E27FC236}">
                <a16:creationId xmlns:a16="http://schemas.microsoft.com/office/drawing/2014/main" id="{D3052F60-C699-432F-8DC6-F0F08262AEB7}"/>
              </a:ext>
            </a:extLst>
          </p:cNvPr>
          <p:cNvSpPr>
            <a:spLocks noGrp="1"/>
          </p:cNvSpPr>
          <p:nvPr/>
        </p:nvSpPr>
        <p:spPr>
          <a:xfrm>
            <a:off x="723900" y="5381625"/>
            <a:ext cx="10744200" cy="666750"/>
          </a:xfrm>
          <a:prstGeom prst="rect">
            <a:avLst/>
          </a:prstGeom>
          <a:noFill/>
          <a:ln w="0">
            <a:noFill/>
          </a:ln>
        </p:spPr>
        <p:txBody>
          <a:bodyPr>
            <a:noAutofit/>
          </a:bodyPr>
          <a:lstStyle/>
          <a:p>
            <a:pPr>
              <a:defRPr sz="2175" b="0">
                <a:solidFill>
                  <a:srgbClr val="186B9A"/>
                </a:solidFill>
                <a:latin typeface="Noto Sans CJK KR"/>
                <a:ea typeface="Noto Sans CJK KR"/>
                <a:cs typeface="Noto Sans CJK KR"/>
              </a:defRPr>
            </a:pPr>
            <a:r>
              <a:rPr sz="2175" b="0">
                <a:solidFill>
                  <a:srgbClr val="186B9A"/>
                </a:solidFill>
                <a:latin typeface="Noto Sans CJK KR"/>
                <a:ea typeface="Noto Sans CJK KR"/>
                <a:cs typeface="Noto Sans CJK KR"/>
              </a:rPr>
              <a:t>적 수가 같아도 범위와 밀집도에 따라 검사량이 달라질 수 있다.</a:t>
            </a:r>
          </a:p>
        </p:txBody>
      </p:sp>
    </p:spTree>
    <p:extLst>
      <p:ext uri="{BB962C8B-B14F-4D97-AF65-F5344CB8AC3E}">
        <p14:creationId xmlns:p14="http://schemas.microsoft.com/office/powerpoint/2010/main" val="1433838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72FB760D-7E39-4346-B6E0-4CC30EEB7AB9}"/>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연구 질문</a:t>
            </a:r>
          </a:p>
        </p:txBody>
      </p:sp>
      <p:sp>
        <p:nvSpPr>
          <p:cNvPr id="2" name="직사각형 1">
            <a:extLst>
              <a:ext uri="{FF2B5EF4-FFF2-40B4-BE49-F238E27FC236}">
                <a16:creationId xmlns:a16="http://schemas.microsoft.com/office/drawing/2014/main" id="{7439D0A7-B625-4A62-B216-D930789969D8}"/>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04</a:t>
            </a:r>
          </a:p>
        </p:txBody>
      </p:sp>
      <p:sp>
        <p:nvSpPr>
          <p:cNvPr id="3" name="직사각형 2">
            <a:extLst>
              <a:ext uri="{FF2B5EF4-FFF2-40B4-BE49-F238E27FC236}">
                <a16:creationId xmlns:a16="http://schemas.microsoft.com/office/drawing/2014/main" id="{40A3C917-1342-4946-A2A5-DF3ACDC196B7}"/>
              </a:ext>
            </a:extLst>
          </p:cNvPr>
          <p:cNvSpPr>
            <a:spLocks noGrp="1"/>
          </p:cNvSpPr>
          <p:nvPr/>
        </p:nvSpPr>
        <p:spPr>
          <a:xfrm>
            <a:off x="723900" y="1619250"/>
            <a:ext cx="10744200" cy="1285875"/>
          </a:xfrm>
          <a:prstGeom prst="rect">
            <a:avLst/>
          </a:prstGeom>
          <a:noFill/>
          <a:ln w="0">
            <a:noFill/>
          </a:ln>
        </p:spPr>
        <p:txBody>
          <a:bodyPr>
            <a:noAutofit/>
          </a:bodyPr>
          <a:lstStyle/>
          <a:p>
            <a:pPr>
              <a:defRPr sz="2700" b="1">
                <a:solidFill>
                  <a:srgbClr val="186B9A"/>
                </a:solidFill>
                <a:latin typeface="Noto Sans CJK KR"/>
                <a:ea typeface="Noto Sans CJK KR"/>
                <a:cs typeface="Noto Sans CJK KR"/>
              </a:defRPr>
            </a:pPr>
            <a:r>
              <a:rPr sz="2700" b="1">
                <a:solidFill>
                  <a:srgbClr val="186B9A"/>
                </a:solidFill>
                <a:latin typeface="Noto Sans CJK KR"/>
                <a:ea typeface="Noto Sans CJK KR"/>
                <a:cs typeface="Noto Sans CJK KR"/>
              </a:rPr>
              <a:t>공격 범위와 적 밀도에 맞춰 탐색 방식을 바꾸면</a:t>
            </a:r>
          </a:p>
          <a:p>
            <a:pPr>
              <a:defRPr sz="2700" b="1">
                <a:solidFill>
                  <a:srgbClr val="186B9A"/>
                </a:solidFill>
                <a:latin typeface="Noto Sans CJK KR"/>
                <a:ea typeface="Noto Sans CJK KR"/>
                <a:cs typeface="Noto Sans CJK KR"/>
              </a:defRPr>
            </a:pPr>
            <a:r>
              <a:rPr sz="2700" b="1">
                <a:solidFill>
                  <a:srgbClr val="186B9A"/>
                </a:solidFill>
                <a:latin typeface="Noto Sans CJK KR"/>
                <a:ea typeface="Noto Sans CJK KR"/>
                <a:cs typeface="Noto Sans CJK KR"/>
              </a:rPr>
              <a:t>계산 시간을 줄일 수 있을까?</a:t>
            </a:r>
          </a:p>
        </p:txBody>
      </p:sp>
      <p:sp>
        <p:nvSpPr>
          <p:cNvPr id="4" name="직사각형 3">
            <a:extLst>
              <a:ext uri="{FF2B5EF4-FFF2-40B4-BE49-F238E27FC236}">
                <a16:creationId xmlns:a16="http://schemas.microsoft.com/office/drawing/2014/main" id="{F8464452-7BF1-43B9-8FCB-4DBD4083D7B4}"/>
              </a:ext>
            </a:extLst>
          </p:cNvPr>
          <p:cNvSpPr>
            <a:spLocks noGrp="1"/>
          </p:cNvSpPr>
          <p:nvPr/>
        </p:nvSpPr>
        <p:spPr>
          <a:xfrm>
            <a:off x="723900" y="32861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비교 대상</a:t>
            </a:r>
          </a:p>
        </p:txBody>
      </p:sp>
      <p:sp>
        <p:nvSpPr>
          <p:cNvPr id="5" name="직사각형 4">
            <a:extLst>
              <a:ext uri="{FF2B5EF4-FFF2-40B4-BE49-F238E27FC236}">
                <a16:creationId xmlns:a16="http://schemas.microsoft.com/office/drawing/2014/main" id="{728F50EF-608C-4354-8947-EFFFF004E6BC}"/>
              </a:ext>
            </a:extLst>
          </p:cNvPr>
          <p:cNvSpPr>
            <a:spLocks noGrp="1"/>
          </p:cNvSpPr>
          <p:nvPr/>
        </p:nvSpPr>
        <p:spPr>
          <a:xfrm>
            <a:off x="723900" y="37623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전체 순회 / 균일 격자 / 조건별 선택(검토 예정)</a:t>
            </a:r>
          </a:p>
        </p:txBody>
      </p:sp>
      <p:sp>
        <p:nvSpPr>
          <p:cNvPr id="6" name="직사각형 5">
            <a:extLst>
              <a:ext uri="{FF2B5EF4-FFF2-40B4-BE49-F238E27FC236}">
                <a16:creationId xmlns:a16="http://schemas.microsoft.com/office/drawing/2014/main" id="{DE9EB73E-2FD0-424C-AAC0-0587E819A42E}"/>
              </a:ext>
            </a:extLst>
          </p:cNvPr>
          <p:cNvSpPr>
            <a:spLocks noGrp="1"/>
          </p:cNvSpPr>
          <p:nvPr/>
        </p:nvSpPr>
        <p:spPr>
          <a:xfrm>
            <a:off x="723900" y="4762500"/>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비교 조건</a:t>
            </a:r>
          </a:p>
        </p:txBody>
      </p:sp>
      <p:sp>
        <p:nvSpPr>
          <p:cNvPr id="7" name="직사각형 6">
            <a:extLst>
              <a:ext uri="{FF2B5EF4-FFF2-40B4-BE49-F238E27FC236}">
                <a16:creationId xmlns:a16="http://schemas.microsoft.com/office/drawing/2014/main" id="{8F108E2F-4E58-45CE-91B6-8C32AD75F47F}"/>
              </a:ext>
            </a:extLst>
          </p:cNvPr>
          <p:cNvSpPr>
            <a:spLocks noGrp="1"/>
          </p:cNvSpPr>
          <p:nvPr/>
        </p:nvSpPr>
        <p:spPr>
          <a:xfrm>
            <a:off x="723900" y="5238750"/>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명중 결과는 같게. 방식 선택과 자료구조 갱신 시간도 측정.</a:t>
            </a:r>
          </a:p>
        </p:txBody>
      </p:sp>
    </p:spTree>
    <p:extLst>
      <p:ext uri="{BB962C8B-B14F-4D97-AF65-F5344CB8AC3E}">
        <p14:creationId xmlns:p14="http://schemas.microsoft.com/office/powerpoint/2010/main" val="1140884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1DAC5EB5-D3D0-49C1-994E-FEC8F1F3DFA5}"/>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실험 방법</a:t>
            </a:r>
          </a:p>
        </p:txBody>
      </p:sp>
      <p:sp>
        <p:nvSpPr>
          <p:cNvPr id="2" name="직사각형 1">
            <a:extLst>
              <a:ext uri="{FF2B5EF4-FFF2-40B4-BE49-F238E27FC236}">
                <a16:creationId xmlns:a16="http://schemas.microsoft.com/office/drawing/2014/main" id="{F481C9AC-8901-49B9-9727-F9F84A608EA2}"/>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05</a:t>
            </a:r>
          </a:p>
        </p:txBody>
      </p:sp>
      <p:sp>
        <p:nvSpPr>
          <p:cNvPr id="3" name="직사각형 2">
            <a:extLst>
              <a:ext uri="{FF2B5EF4-FFF2-40B4-BE49-F238E27FC236}">
                <a16:creationId xmlns:a16="http://schemas.microsoft.com/office/drawing/2014/main" id="{4CDDFD28-A50D-4156-AB7E-59CF5F486987}"/>
              </a:ext>
            </a:extLst>
          </p:cNvPr>
          <p:cNvSpPr>
            <a:spLocks noGrp="1"/>
          </p:cNvSpPr>
          <p:nvPr/>
        </p:nvSpPr>
        <p:spPr>
          <a:xfrm>
            <a:off x="723900" y="1619250"/>
            <a:ext cx="5048250" cy="47625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1. 탐색 단독 실험</a:t>
            </a:r>
          </a:p>
        </p:txBody>
      </p:sp>
      <p:sp>
        <p:nvSpPr>
          <p:cNvPr id="4" name="직사각형 3">
            <a:extLst>
              <a:ext uri="{FF2B5EF4-FFF2-40B4-BE49-F238E27FC236}">
                <a16:creationId xmlns:a16="http://schemas.microsoft.com/office/drawing/2014/main" id="{4885AD78-D521-4111-94B3-3E115CFD3D68}"/>
              </a:ext>
            </a:extLst>
          </p:cNvPr>
          <p:cNvSpPr>
            <a:spLocks noGrp="1"/>
          </p:cNvSpPr>
          <p:nvPr/>
        </p:nvSpPr>
        <p:spPr>
          <a:xfrm>
            <a:off x="723900" y="2305050"/>
            <a:ext cx="5048250" cy="2095500"/>
          </a:xfrm>
          <a:prstGeom prst="rect">
            <a:avLst/>
          </a:prstGeom>
          <a:noFill/>
          <a:ln w="0">
            <a:noFill/>
          </a:ln>
        </p:spPr>
        <p:txBody>
          <a:bodyPr>
            <a:noAutofit/>
          </a:bodyPr>
          <a:lstStyle/>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같은 적 배치와 공격 조건</a:t>
            </a:r>
          </a:p>
          <a:p>
            <a:endParaRPr sz="2175" b="0">
              <a:solidFill>
                <a:srgbClr val="142D45"/>
              </a:solidFill>
              <a:latin typeface="Noto Sans CJK KR"/>
              <a:ea typeface="Noto Sans CJK KR"/>
              <a:cs typeface="Noto Sans CJK KR"/>
            </a:endParaRP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탐색 시간과 검사 대상 수</a:t>
            </a: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명중 결과 일치 여부</a:t>
            </a:r>
          </a:p>
        </p:txBody>
      </p:sp>
      <p:sp>
        <p:nvSpPr>
          <p:cNvPr id="5" name="직사각형 4">
            <a:extLst>
              <a:ext uri="{FF2B5EF4-FFF2-40B4-BE49-F238E27FC236}">
                <a16:creationId xmlns:a16="http://schemas.microsoft.com/office/drawing/2014/main" id="{0AC696ED-7D1C-4882-9727-B938767BCE82}"/>
              </a:ext>
            </a:extLst>
          </p:cNvPr>
          <p:cNvSpPr>
            <a:spLocks noGrp="1"/>
          </p:cNvSpPr>
          <p:nvPr/>
        </p:nvSpPr>
        <p:spPr>
          <a:xfrm>
            <a:off x="6534150" y="1619250"/>
            <a:ext cx="5048250" cy="47625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2. 실제 전투 실험</a:t>
            </a:r>
          </a:p>
        </p:txBody>
      </p:sp>
      <p:sp>
        <p:nvSpPr>
          <p:cNvPr id="6" name="직사각형 5">
            <a:extLst>
              <a:ext uri="{FF2B5EF4-FFF2-40B4-BE49-F238E27FC236}">
                <a16:creationId xmlns:a16="http://schemas.microsoft.com/office/drawing/2014/main" id="{886AEDCE-F995-47BC-8FF9-459C52E9FD3F}"/>
              </a:ext>
            </a:extLst>
          </p:cNvPr>
          <p:cNvSpPr>
            <a:spLocks noGrp="1"/>
          </p:cNvSpPr>
          <p:nvPr/>
        </p:nvSpPr>
        <p:spPr>
          <a:xfrm>
            <a:off x="6534150" y="2305050"/>
            <a:ext cx="5048250" cy="2095500"/>
          </a:xfrm>
          <a:prstGeom prst="rect">
            <a:avLst/>
          </a:prstGeom>
          <a:noFill/>
          <a:ln w="0">
            <a:noFill/>
          </a:ln>
        </p:spPr>
        <p:txBody>
          <a:bodyPr>
            <a:noAutofit/>
          </a:bodyPr>
          <a:lstStyle/>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적 수·밀집도·포탑 수 변화</a:t>
            </a:r>
          </a:p>
          <a:p>
            <a:endParaRPr sz="2175" b="0">
              <a:solidFill>
                <a:srgbClr val="142D45"/>
              </a:solidFill>
              <a:latin typeface="Noto Sans CJK KR"/>
              <a:ea typeface="Noto Sans CJK KR"/>
              <a:cs typeface="Noto Sans CJK KR"/>
            </a:endParaRP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프레임 시간, CPU/GPU 시간</a:t>
            </a: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프레임 지연 횟수와 시간</a:t>
            </a:r>
          </a:p>
        </p:txBody>
      </p:sp>
      <p:sp>
        <p:nvSpPr>
          <p:cNvPr id="7" name="직사각형 6">
            <a:extLst>
              <a:ext uri="{FF2B5EF4-FFF2-40B4-BE49-F238E27FC236}">
                <a16:creationId xmlns:a16="http://schemas.microsoft.com/office/drawing/2014/main" id="{136D2127-FFBB-4133-A440-3A122E9ABDE9}"/>
              </a:ext>
            </a:extLst>
          </p:cNvPr>
          <p:cNvSpPr>
            <a:spLocks noGrp="1"/>
          </p:cNvSpPr>
          <p:nvPr/>
        </p:nvSpPr>
        <p:spPr>
          <a:xfrm>
            <a:off x="723900" y="5238750"/>
            <a:ext cx="10744200" cy="762000"/>
          </a:xfrm>
          <a:prstGeom prst="rect">
            <a:avLst/>
          </a:prstGeom>
          <a:noFill/>
          <a:ln w="0">
            <a:noFill/>
          </a:ln>
        </p:spPr>
        <p:txBody>
          <a:bodyPr>
            <a:noAutofit/>
          </a:bodyPr>
          <a:lstStyle/>
          <a:p>
            <a:pPr>
              <a:defRPr sz="1950" b="0">
                <a:solidFill>
                  <a:srgbClr val="526376"/>
                </a:solidFill>
                <a:latin typeface="Noto Sans CJK KR"/>
                <a:ea typeface="Noto Sans CJK KR"/>
                <a:cs typeface="Noto Sans CJK KR"/>
              </a:defRPr>
            </a:pPr>
            <a:r>
              <a:rPr sz="1950" b="0">
                <a:solidFill>
                  <a:srgbClr val="526376"/>
                </a:solidFill>
                <a:latin typeface="Noto Sans CJK KR"/>
                <a:ea typeface="Noto Sans CJK KR"/>
                <a:cs typeface="Noto Sans CJK KR"/>
              </a:rPr>
              <a:t>고정 조건: 장비, 해상도, 난수 시드, 포탑 배치, 시뮬레이션 시간 간격</a:t>
            </a:r>
          </a:p>
        </p:txBody>
      </p:sp>
    </p:spTree>
    <p:extLst>
      <p:ext uri="{BB962C8B-B14F-4D97-AF65-F5344CB8AC3E}">
        <p14:creationId xmlns:p14="http://schemas.microsoft.com/office/powerpoint/2010/main" val="186347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FE551B29-CB64-40DE-9A74-F730A83EA18C}"/>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진행 계획</a:t>
            </a:r>
          </a:p>
        </p:txBody>
      </p:sp>
      <p:sp>
        <p:nvSpPr>
          <p:cNvPr id="2" name="직사각형 1">
            <a:extLst>
              <a:ext uri="{FF2B5EF4-FFF2-40B4-BE49-F238E27FC236}">
                <a16:creationId xmlns:a16="http://schemas.microsoft.com/office/drawing/2014/main" id="{ADA62267-C8A0-4E78-84D4-F6E0B5F213D1}"/>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06</a:t>
            </a:r>
          </a:p>
        </p:txBody>
      </p:sp>
      <p:sp>
        <p:nvSpPr>
          <p:cNvPr id="3" name="직사각형 2">
            <a:extLst>
              <a:ext uri="{FF2B5EF4-FFF2-40B4-BE49-F238E27FC236}">
                <a16:creationId xmlns:a16="http://schemas.microsoft.com/office/drawing/2014/main" id="{1F01F757-E5C5-46EF-B196-C727260820AE}"/>
              </a:ext>
            </a:extLst>
          </p:cNvPr>
          <p:cNvSpPr>
            <a:spLocks noGrp="1"/>
          </p:cNvSpPr>
          <p:nvPr/>
        </p:nvSpPr>
        <p:spPr>
          <a:xfrm>
            <a:off x="723900" y="1571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먼저 할 일</a:t>
            </a:r>
          </a:p>
        </p:txBody>
      </p:sp>
      <p:sp>
        <p:nvSpPr>
          <p:cNvPr id="4" name="직사각형 3">
            <a:extLst>
              <a:ext uri="{FF2B5EF4-FFF2-40B4-BE49-F238E27FC236}">
                <a16:creationId xmlns:a16="http://schemas.microsoft.com/office/drawing/2014/main" id="{81CB2908-5083-4C13-9E49-F7975C388013}"/>
              </a:ext>
            </a:extLst>
          </p:cNvPr>
          <p:cNvSpPr>
            <a:spLocks noGrp="1"/>
          </p:cNvSpPr>
          <p:nvPr/>
        </p:nvSpPr>
        <p:spPr>
          <a:xfrm>
            <a:off x="723900" y="2047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관련 연구를 읽고 현재 탐색 시간을 측정한다.</a:t>
            </a:r>
          </a:p>
        </p:txBody>
      </p:sp>
      <p:sp>
        <p:nvSpPr>
          <p:cNvPr id="5" name="직사각형 4">
            <a:extLst>
              <a:ext uri="{FF2B5EF4-FFF2-40B4-BE49-F238E27FC236}">
                <a16:creationId xmlns:a16="http://schemas.microsoft.com/office/drawing/2014/main" id="{D7BFCA5A-FB11-4330-9BFC-5DB4ED7D00B3}"/>
              </a:ext>
            </a:extLst>
          </p:cNvPr>
          <p:cNvSpPr>
            <a:spLocks noGrp="1"/>
          </p:cNvSpPr>
          <p:nvPr/>
        </p:nvSpPr>
        <p:spPr>
          <a:xfrm>
            <a:off x="723900" y="3095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비교 실험</a:t>
            </a:r>
          </a:p>
        </p:txBody>
      </p:sp>
      <p:sp>
        <p:nvSpPr>
          <p:cNvPr id="6" name="직사각형 5">
            <a:extLst>
              <a:ext uri="{FF2B5EF4-FFF2-40B4-BE49-F238E27FC236}">
                <a16:creationId xmlns:a16="http://schemas.microsoft.com/office/drawing/2014/main" id="{6B365A56-9F46-4702-922E-2DCD6FBE2B46}"/>
              </a:ext>
            </a:extLst>
          </p:cNvPr>
          <p:cNvSpPr>
            <a:spLocks noGrp="1"/>
          </p:cNvSpPr>
          <p:nvPr/>
        </p:nvSpPr>
        <p:spPr>
          <a:xfrm>
            <a:off x="723900" y="3571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공격 범위와 적 밀도를 바꿔 각 방식의 속도를 비교한다.</a:t>
            </a:r>
          </a:p>
        </p:txBody>
      </p:sp>
      <p:sp>
        <p:nvSpPr>
          <p:cNvPr id="7" name="직사각형 6">
            <a:extLst>
              <a:ext uri="{FF2B5EF4-FFF2-40B4-BE49-F238E27FC236}">
                <a16:creationId xmlns:a16="http://schemas.microsoft.com/office/drawing/2014/main" id="{58BF8EDE-9A63-4C24-929D-7ACAD833878B}"/>
              </a:ext>
            </a:extLst>
          </p:cNvPr>
          <p:cNvSpPr>
            <a:spLocks noGrp="1"/>
          </p:cNvSpPr>
          <p:nvPr/>
        </p:nvSpPr>
        <p:spPr>
          <a:xfrm>
            <a:off x="723900" y="4619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확인할 것</a:t>
            </a:r>
          </a:p>
        </p:txBody>
      </p:sp>
      <p:sp>
        <p:nvSpPr>
          <p:cNvPr id="8" name="직사각형 7">
            <a:extLst>
              <a:ext uri="{FF2B5EF4-FFF2-40B4-BE49-F238E27FC236}">
                <a16:creationId xmlns:a16="http://schemas.microsoft.com/office/drawing/2014/main" id="{3B232259-D0A2-46C0-9A80-4A9952D1FBD1}"/>
              </a:ext>
            </a:extLst>
          </p:cNvPr>
          <p:cNvSpPr>
            <a:spLocks noGrp="1"/>
          </p:cNvSpPr>
          <p:nvPr/>
        </p:nvSpPr>
        <p:spPr>
          <a:xfrm>
            <a:off x="723900" y="5095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어떤 조건에서 빠른가? 실제 전투의 프레임 시간도 줄어드는가?</a:t>
            </a:r>
          </a:p>
        </p:txBody>
      </p:sp>
    </p:spTree>
    <p:extLst>
      <p:ext uri="{BB962C8B-B14F-4D97-AF65-F5344CB8AC3E}">
        <p14:creationId xmlns:p14="http://schemas.microsoft.com/office/powerpoint/2010/main" val="124553516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TotalTime>
  <Words>611</Words>
  <Application>Microsoft Macintosh PowerPoint</Application>
  <DocSecurity>0</DocSecurity>
  <PresentationFormat>와이드스크린</PresentationFormat>
  <Paragraphs>67</Paragraphs>
  <Slides>7</Slides>
  <Notes>6</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Noto Sans CJK KR</vt:lpstr>
      <vt:lpstr>Calibri</vt:lpstr>
      <vt:lpstr>Cambria Math</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임셋</cp:lastModifiedBy>
  <cp:revision>3</cp:revision>
  <dcterms:created xsi:type="dcterms:W3CDTF">2026-09-15T06:55:34Z</dcterms:created>
  <dcterms:modified xsi:type="dcterms:W3CDTF">2026-09-15T15:11:21Z</dcterms:modified>
</cp:coreProperties>
</file>