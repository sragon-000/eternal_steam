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6a2b2fd7ed64fb3" /><Relationship Type="http://schemas.openxmlformats.org/officeDocument/2006/relationships/extended-properties" Target="/docProps/app.xml" Id="Red80e13595f742d5" /><Relationship Type="http://schemas.openxmlformats.org/officeDocument/2006/relationships/officeDocument" Target="/ppt/presentation.xml" Id="R3199c1627d1a45fb" /></Relationships>
</file>

<file path=ppt/presentation.xml><?xml version="1.0" encoding="utf-8"?>
<p:presentation xmlns:p="http://schemas.openxmlformats.org/presentationml/2006/main">
  <p:sldMasterIdLst>
    <p:sldMasterId xmlns:r="http://schemas.openxmlformats.org/officeDocument/2006/relationships" id="2147483648" r:id="R0719f15217334f8b"/>
  </p:sldMasterIdLst>
  <p:notesMasterIdLst>
    <p:notesMasterId xmlns:r="http://schemas.openxmlformats.org/officeDocument/2006/relationships" r:id="Ra33521edd0f349c8"/>
  </p:notesMasterIdLst>
  <p:sldIdLst>
    <p:sldId xmlns:r="http://schemas.openxmlformats.org/officeDocument/2006/relationships" id="256" r:id="R32d47cd81eb947b0"/>
    <p:sldId xmlns:r="http://schemas.openxmlformats.org/officeDocument/2006/relationships" id="257" r:id="Ra67c0968741f4149"/>
    <p:sldId xmlns:r="http://schemas.openxmlformats.org/officeDocument/2006/relationships" id="258" r:id="R5d21bdf137204dd7"/>
    <p:sldId xmlns:r="http://schemas.openxmlformats.org/officeDocument/2006/relationships" id="259" r:id="R23c859f6a647447c"/>
    <p:sldId xmlns:r="http://schemas.openxmlformats.org/officeDocument/2006/relationships" id="260" r:id="R04cec9d6d96a4fc1"/>
    <p:sldId xmlns:r="http://schemas.openxmlformats.org/officeDocument/2006/relationships" id="261" r:id="R065d6b9221844f7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22731e158834612" /><Relationship Type="http://schemas.openxmlformats.org/officeDocument/2006/relationships/slideMaster" Target="/ppt/slideMasters/slideMaster1.xml" Id="R0719f15217334f8b" /><Relationship Type="http://schemas.openxmlformats.org/officeDocument/2006/relationships/notesMaster" Target="/ppt/notesMasters/notesMaster1.xml" Id="Ra33521edd0f349c8" /><Relationship Type="http://schemas.openxmlformats.org/officeDocument/2006/relationships/presProps" Target="/ppt/presProps.xml" Id="R2fe4d49e48c045e4" /><Relationship Type="http://schemas.openxmlformats.org/officeDocument/2006/relationships/tableStyles" Target="/ppt/tableStyles.xml" Id="R5095838e3ad44d4c" /><Relationship Type="http://schemas.openxmlformats.org/officeDocument/2006/relationships/slide" Target="/ppt/slides/slide1.xml" Id="R32d47cd81eb947b0" /><Relationship Type="http://schemas.openxmlformats.org/officeDocument/2006/relationships/slide" Target="/ppt/slides/slide2.xml" Id="Ra67c0968741f4149" /><Relationship Type="http://schemas.openxmlformats.org/officeDocument/2006/relationships/slide" Target="/ppt/slides/slide3.xml" Id="R5d21bdf137204dd7" /><Relationship Type="http://schemas.openxmlformats.org/officeDocument/2006/relationships/slide" Target="/ppt/slides/slide4.xml" Id="R23c859f6a647447c" /><Relationship Type="http://schemas.openxmlformats.org/officeDocument/2006/relationships/slide" Target="/ppt/slides/slide5.xml" Id="R04cec9d6d96a4fc1" /><Relationship Type="http://schemas.openxmlformats.org/officeDocument/2006/relationships/slide" Target="/ppt/slides/slide6.xml" Id="R065d6b9221844f7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83f98d742e94c3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b7be2fbc172498c" /><Relationship Type="http://schemas.openxmlformats.org/officeDocument/2006/relationships/notesMaster" Target="/ppt/notesMasters/notesMaster1.xml" Id="Ra56a81f936444edf" /></Relationships>
</file>

<file path=ppt/notesSlides/_rels/notesSlide2.xml.rels>&#65279;<?xml version="1.0" encoding="utf-8"?><Relationships xmlns="http://schemas.openxmlformats.org/package/2006/relationships"><Relationship Type="http://schemas.openxmlformats.org/officeDocument/2006/relationships/slide" Target="/ppt/slides/slide2.xml" Id="Rf080ace9edf945ee" /><Relationship Type="http://schemas.openxmlformats.org/officeDocument/2006/relationships/notesMaster" Target="/ppt/notesMasters/notesMaster1.xml" Id="R11a25b5bf13747e4" /></Relationships>
</file>

<file path=ppt/notesSlides/_rels/notesSlide3.xml.rels>&#65279;<?xml version="1.0" encoding="utf-8"?><Relationships xmlns="http://schemas.openxmlformats.org/package/2006/relationships"><Relationship Type="http://schemas.openxmlformats.org/officeDocument/2006/relationships/slide" Target="/ppt/slides/slide3.xml" Id="R82d79f06fd7443f9" /><Relationship Type="http://schemas.openxmlformats.org/officeDocument/2006/relationships/notesMaster" Target="/ppt/notesMasters/notesMaster1.xml" Id="Rdbcd7209d3624c44" /></Relationships>
</file>

<file path=ppt/notesSlides/_rels/notesSlide4.xml.rels>&#65279;<?xml version="1.0" encoding="utf-8"?><Relationships xmlns="http://schemas.openxmlformats.org/package/2006/relationships"><Relationship Type="http://schemas.openxmlformats.org/officeDocument/2006/relationships/slide" Target="/ppt/slides/slide4.xml" Id="R716c87cad39a4659" /><Relationship Type="http://schemas.openxmlformats.org/officeDocument/2006/relationships/notesMaster" Target="/ppt/notesMasters/notesMaster1.xml" Id="Rbec9bdf268ef4467" /></Relationships>
</file>

<file path=ppt/notesSlides/_rels/notesSlide5.xml.rels>&#65279;<?xml version="1.0" encoding="utf-8"?><Relationships xmlns="http://schemas.openxmlformats.org/package/2006/relationships"><Relationship Type="http://schemas.openxmlformats.org/officeDocument/2006/relationships/slide" Target="/ppt/slides/slide5.xml" Id="Ra249be04cd174520" /><Relationship Type="http://schemas.openxmlformats.org/officeDocument/2006/relationships/notesMaster" Target="/ppt/notesMasters/notesMaster1.xml" Id="R70cd25b4e3e649d8" /></Relationships>
</file>

<file path=ppt/notesSlides/_rels/notesSlide6.xml.rels>&#65279;<?xml version="1.0" encoding="utf-8"?><Relationships xmlns="http://schemas.openxmlformats.org/package/2006/relationships"><Relationship Type="http://schemas.openxmlformats.org/officeDocument/2006/relationships/slide" Target="/ppt/slides/slide6.xml" Id="R78e2d0d26bc6438e" /><Relationship Type="http://schemas.openxmlformats.org/officeDocument/2006/relationships/notesMaster" Target="/ppt/notesMasters/notesMaster1.xml" Id="R58cb1ed910a44d7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약 5분. 개발 중인 Eternal Steam을 실험 환경으로 삼아 공격 형태와 적 밀도에 따른 탐색 비용을 연구하려 합니다. 아직 결과를 얻은 연구가 아니라 연구 계획입니다. 적응형 선택의 신규성은 선행연구 검토 후 확정합니다.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구현 확인 자료: https://github.com/imset3/Eternal_Steam/blob/main/Assets/HordeDemo/Scripts/HordeSimulation.cs . 적은 배열과 재사용 슬롯으로 관리합니다. 화살은 발사마다 최대 4,000개의 슬롯을 순회하고, 다른 공격은 관련 격자에서 후보를 조회합니다. 이 차이는 연구의 출발점이며, 현재 방식들이 공정한 알고리즘 비교 실험은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공격 규칙 출처: https://github.com/imset3/Eternal_Steam/blob/main/Assets/HordeDemo/Scripts/HordeSimulation.cs 및 HordeTowerKind.cs . 대포는 사선으로 폭발 중심을 정한 뒤 원형 범위 안의 적을 조회합니다. 여기서는 폭발 범위 탐색을 구분해 설명합니다. 기관총은 최근접 한 명, 나머지는 여러 대상이라는 차이가 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RQ1: 조건별 탐색 방식의 성능 역전이 있는가? RQ2: 선택 비용까지 포함한 적응형 방식이 강한 고정 기준선보다 유리한가? RQ3: 효과가 게임 전체로 이어지는가? 동일한 공격 판정과 경계 처리를 사용하고 기관총의 동거리 표적은 안정적인 ID로 결정합니다. 격자 크기를 조정한 고정 방식과도 비교해야 합니다. 적응형 방식은 예비실험 결과에 따라 설계할 후보이며 효과를 전제하지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실험 조건의 구체적 수준은 예비실험 후 확정합니다. 적 수, 밀집도, 공격 범위, 포탑 수를 단계적으로 변경하고 처음부터 모든 조합을 확장하지 않습니다. 탐색 단독 비교에서는 같은 적 스냅샷으로 정확도를 검사합니다. 전투에서는 고정 시간 간격과 난수 시드, 같은 생성 일정, 배치와 렌더링을 사용합니다. 에디터 대신 빌드를 예열하고 여러 번 측정합니다. 프레임 저하와 GPU 병목을 구분합니다.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예상 기여이지 결과가 아닙니다. 탐색 비용이 전체 프레임에서 작거나 GPU가 병목이면 전체 성능 개선이 제한될 수 있습니다. 그 조건까지 설명하는 것이 목표입니다. 우선 선행연구를 검토하고 현재 코드의 병목 비중을 계측합니다. 방식별 성능이 역전되는 조건을 확인한 뒤 적응형 선택이 필요한지 결정하고, 별도 시드와 조건에서 검증합니다. 발표 후 논의할 사항: 연구 범위의 적절성, 비교 기준선, 대상 학회와 필요한 기여 수준.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966d7e456ca486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63d020d8ee446ef" /><Relationship Type="http://schemas.openxmlformats.org/officeDocument/2006/relationships/slideLayout" Target="/ppt/slideLayouts/slideLayout1.xml" Id="R2478df976e4d4fa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478df976e4d4fa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3b447e195df434e" /><Relationship Type="http://schemas.openxmlformats.org/officeDocument/2006/relationships/notesSlide" Target="/ppt/notesSlides/notesSlide1.xml" Id="Rde186fc7088e49e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430a142d58c4843" /><Relationship Type="http://schemas.openxmlformats.org/officeDocument/2006/relationships/notesSlide" Target="/ppt/notesSlides/notesSlide2.xml" Id="Rbdbe56c99c76467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1633083ab694883" /><Relationship Type="http://schemas.openxmlformats.org/officeDocument/2006/relationships/notesSlide" Target="/ppt/notesSlides/notesSlide3.xml" Id="Rf033d26bf97341e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79094319fa94435" /><Relationship Type="http://schemas.openxmlformats.org/officeDocument/2006/relationships/notesSlide" Target="/ppt/notesSlides/notesSlide4.xml" Id="R28c08a306b65490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90b204e521949b3" /><Relationship Type="http://schemas.openxmlformats.org/officeDocument/2006/relationships/notesSlide" Target="/ppt/notesSlides/notesSlide5.xml" Id="R4f03f3fbe09a4cd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cb82e595b594ff3" /><Relationship Type="http://schemas.openxmlformats.org/officeDocument/2006/relationships/notesSlide" Target="/ppt/notesSlides/notesSlide6.xml" Id="Ra3cbbfba19f54f75"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4045038-09AE-4605-969D-C29020F25581}"/>
              </a:ext>
            </a:extLst>
          </p:cNvPr>
          <p:cNvSpPr>
            <a:spLocks xmlns:a="http://schemas.openxmlformats.org/drawingml/2006/main" noGrp="1"/>
          </p:cNvSpPr>
          <p:nvPr/>
        </p:nvSpPr>
        <p:spPr>
          <a:xfrm xmlns:a="http://schemas.openxmlformats.org/drawingml/2006/main">
            <a:off x="685800" y="1285875"/>
            <a:ext cx="108204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142D45"/>
                </a:solidFill>
                <a:latin typeface="Noto Sans CJK KR"/>
                <a:ea typeface="Noto Sans CJK KR"/>
                <a:cs typeface="Noto Sans CJK KR"/>
              </a:defRPr>
            </a:pPr>
            <a:r>
              <a:rPr sz="4200" b="1">
                <a:solidFill>
                  <a:srgbClr val="142D45"/>
                </a:solidFill>
                <a:latin typeface="Noto Sans CJK KR"/>
                <a:ea typeface="Noto Sans CJK KR"/>
                <a:cs typeface="Noto Sans CJK KR"/>
              </a:rPr>
              <a:t>대규모 디펜스 게임의</a:t>
            </a:r>
          </a:p>
          <a:p xmlns:a="http://schemas.openxmlformats.org/drawingml/2006/main">
            <a:pPr>
              <a:defRPr sz="4200" b="1">
                <a:solidFill>
                  <a:srgbClr val="142D45"/>
                </a:solidFill>
                <a:latin typeface="Noto Sans CJK KR"/>
                <a:ea typeface="Noto Sans CJK KR"/>
                <a:cs typeface="Noto Sans CJK KR"/>
              </a:defRPr>
            </a:pPr>
            <a:r>
              <a:rPr sz="4200" b="1">
                <a:solidFill>
                  <a:srgbClr val="142D45"/>
                </a:solidFill>
                <a:latin typeface="Noto Sans CJK KR"/>
                <a:ea typeface="Noto Sans CJK KR"/>
                <a:cs typeface="Noto Sans CJK KR"/>
              </a:rPr>
              <a:t>표적 탐색 최적화 연구</a:t>
            </a:r>
          </a:p>
        </p:txBody>
      </p:sp>
      <p:sp>
        <p:nvSpPr>
          <p:cNvPr id="2" name="">
            <a:extLst xmlns:a="http://schemas.openxmlformats.org/drawingml/2006/main">
              <a:ext uri="{FF2B5EF4-FFF2-40B4-BE49-F238E27FC236}">
                <a16:creationId xmlns:a16="http://schemas.microsoft.com/office/drawing/2014/main" id="{D88670CF-B44F-40DA-BE11-D2BC35C69D3B}"/>
              </a:ext>
            </a:extLst>
          </p:cNvPr>
          <p:cNvSpPr>
            <a:spLocks xmlns:a="http://schemas.openxmlformats.org/drawingml/2006/main" noGrp="1"/>
          </p:cNvSpPr>
          <p:nvPr/>
        </p:nvSpPr>
        <p:spPr>
          <a:xfrm xmlns:a="http://schemas.openxmlformats.org/drawingml/2006/main">
            <a:off x="11049000" y="63436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376"/>
                </a:solidFill>
                <a:latin typeface="Noto Sans CJK KR"/>
                <a:ea typeface="Noto Sans CJK KR"/>
                <a:cs typeface="Noto Sans CJK KR"/>
              </a:defRPr>
            </a:pPr>
            <a:r>
              <a:rPr sz="1350" b="0">
                <a:solidFill>
                  <a:srgbClr val="526376"/>
                </a:solidFill>
                <a:latin typeface="Noto Sans CJK KR"/>
                <a:ea typeface="Noto Sans CJK KR"/>
                <a:cs typeface="Noto Sans CJK KR"/>
              </a:rPr>
              <a:t>01</a:t>
            </a:r>
          </a:p>
        </p:txBody>
      </p:sp>
      <p:sp>
        <p:nvSpPr>
          <p:cNvPr id="3" name="">
            <a:extLst xmlns:a="http://schemas.openxmlformats.org/drawingml/2006/main">
              <a:ext uri="{FF2B5EF4-FFF2-40B4-BE49-F238E27FC236}">
                <a16:creationId xmlns:a16="http://schemas.microsoft.com/office/drawing/2014/main" id="{1839F77B-3A54-4399-BD2B-4C4E4EC86DAF}"/>
              </a:ext>
            </a:extLst>
          </p:cNvPr>
          <p:cNvSpPr>
            <a:spLocks xmlns:a="http://schemas.openxmlformats.org/drawingml/2006/main" noGrp="1"/>
          </p:cNvSpPr>
          <p:nvPr/>
        </p:nvSpPr>
        <p:spPr>
          <a:xfrm xmlns:a="http://schemas.openxmlformats.org/drawingml/2006/main">
            <a:off x="723900" y="34290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86B9A"/>
                </a:solidFill>
                <a:latin typeface="Noto Sans CJK KR"/>
                <a:ea typeface="Noto Sans CJK KR"/>
                <a:cs typeface="Noto Sans CJK KR"/>
              </a:defRPr>
            </a:pPr>
            <a:r>
              <a:rPr sz="2400" b="0">
                <a:solidFill>
                  <a:srgbClr val="186B9A"/>
                </a:solidFill>
                <a:latin typeface="Noto Sans CJK KR"/>
                <a:ea typeface="Noto Sans CJK KR"/>
                <a:cs typeface="Noto Sans CJK KR"/>
              </a:rPr>
              <a:t>공격 형태와 적 밀도에 따른 탐색 방식 비교</a:t>
            </a:r>
          </a:p>
        </p:txBody>
      </p:sp>
      <p:sp>
        <p:nvSpPr>
          <p:cNvPr id="4" name="">
            <a:extLst xmlns:a="http://schemas.openxmlformats.org/drawingml/2006/main">
              <a:ext uri="{FF2B5EF4-FFF2-40B4-BE49-F238E27FC236}">
                <a16:creationId xmlns:a16="http://schemas.microsoft.com/office/drawing/2014/main" id="{A7744560-2A7F-4B1D-A946-F38C2E5A981D}"/>
              </a:ext>
            </a:extLst>
          </p:cNvPr>
          <p:cNvSpPr>
            <a:spLocks xmlns:a="http://schemas.openxmlformats.org/drawingml/2006/main" noGrp="1"/>
          </p:cNvSpPr>
          <p:nvPr/>
        </p:nvSpPr>
        <p:spPr>
          <a:xfrm xmlns:a="http://schemas.openxmlformats.org/drawingml/2006/main">
            <a:off x="723900" y="447675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26376"/>
                </a:solidFill>
                <a:latin typeface="Noto Sans CJK KR"/>
                <a:ea typeface="Noto Sans CJK KR"/>
                <a:cs typeface="Noto Sans CJK KR"/>
              </a:defRPr>
            </a:pPr>
            <a:r>
              <a:rPr sz="2025" b="0">
                <a:solidFill>
                  <a:srgbClr val="526376"/>
                </a:solidFill>
                <a:latin typeface="Noto Sans CJK KR"/>
                <a:ea typeface="Noto Sans CJK KR"/>
                <a:cs typeface="Noto Sans CJK KR"/>
              </a:rPr>
              <a:t>Eternal Steam 개발 기반 세미나</a:t>
            </a:r>
          </a:p>
        </p:txBody>
      </p:sp>
      <p:sp>
        <p:nvSpPr>
          <p:cNvPr id="5" name="">
            <a:extLst xmlns:a="http://schemas.openxmlformats.org/drawingml/2006/main">
              <a:ext uri="{FF2B5EF4-FFF2-40B4-BE49-F238E27FC236}">
                <a16:creationId xmlns:a16="http://schemas.microsoft.com/office/drawing/2014/main" id="{59665436-8E4F-426F-8806-59805603D2DF}"/>
              </a:ext>
            </a:extLst>
          </p:cNvPr>
          <p:cNvSpPr>
            <a:spLocks xmlns:a="http://schemas.openxmlformats.org/drawingml/2006/main" noGrp="1"/>
          </p:cNvSpPr>
          <p:nvPr/>
        </p:nvSpPr>
        <p:spPr>
          <a:xfrm xmlns:a="http://schemas.openxmlformats.org/drawingml/2006/main">
            <a:off x="723900" y="52387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376"/>
                </a:solidFill>
                <a:latin typeface="Noto Sans CJK KR"/>
                <a:ea typeface="Noto Sans CJK KR"/>
                <a:cs typeface="Noto Sans CJK KR"/>
              </a:defRPr>
            </a:pPr>
            <a:r>
              <a:rPr sz="1800" b="0">
                <a:solidFill>
                  <a:srgbClr val="526376"/>
                </a:solidFill>
                <a:latin typeface="Noto Sans CJK KR"/>
                <a:ea typeface="Noto Sans CJK KR"/>
                <a:cs typeface="Noto Sans CJK KR"/>
              </a:rPr>
              <a:t>연구 계획 · 성능 개선 효과는 검증 전</a:t>
            </a:r>
          </a:p>
        </p:txBody>
      </p:sp>
    </p:spTree>
    <p:extLst>
      <p:ext uri="{BB962C8B-B14F-4D97-AF65-F5344CB8AC3E}">
        <p14:creationId xmlns:p14="http://schemas.microsoft.com/office/powerpoint/2010/main" val="86659923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382D049-6BC1-4A4E-A96B-3720D72D0351}"/>
              </a:ext>
            </a:extLst>
          </p:cNvPr>
          <p:cNvSpPr>
            <a:spLocks xmlns:a="http://schemas.openxmlformats.org/drawingml/2006/main" noGrp="1"/>
          </p:cNvSpPr>
          <p:nvPr/>
        </p:nvSpPr>
        <p:spPr>
          <a:xfrm xmlns:a="http://schemas.openxmlformats.org/drawingml/2006/main">
            <a:off x="685800" y="49530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D45"/>
                </a:solidFill>
                <a:latin typeface="Noto Sans CJK KR"/>
                <a:ea typeface="Noto Sans CJK KR"/>
                <a:cs typeface="Noto Sans CJK KR"/>
              </a:defRPr>
            </a:pPr>
            <a:r>
              <a:rPr sz="3300" b="1">
                <a:solidFill>
                  <a:srgbClr val="142D45"/>
                </a:solidFill>
                <a:latin typeface="Noto Sans CJK KR"/>
                <a:ea typeface="Noto Sans CJK KR"/>
                <a:cs typeface="Noto Sans CJK KR"/>
              </a:rPr>
              <a:t>기능을 추가하다 생긴 의문</a:t>
            </a:r>
          </a:p>
        </p:txBody>
      </p:sp>
      <p:sp>
        <p:nvSpPr>
          <p:cNvPr id="2" name="">
            <a:extLst xmlns:a="http://schemas.openxmlformats.org/drawingml/2006/main">
              <a:ext uri="{FF2B5EF4-FFF2-40B4-BE49-F238E27FC236}">
                <a16:creationId xmlns:a16="http://schemas.microsoft.com/office/drawing/2014/main" id="{C3E7B40F-85A3-4352-8D86-88D3D61EE25F}"/>
              </a:ext>
            </a:extLst>
          </p:cNvPr>
          <p:cNvSpPr>
            <a:spLocks xmlns:a="http://schemas.openxmlformats.org/drawingml/2006/main" noGrp="1"/>
          </p:cNvSpPr>
          <p:nvPr/>
        </p:nvSpPr>
        <p:spPr>
          <a:xfrm xmlns:a="http://schemas.openxmlformats.org/drawingml/2006/main">
            <a:off x="11049000" y="63436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376"/>
                </a:solidFill>
                <a:latin typeface="Noto Sans CJK KR"/>
                <a:ea typeface="Noto Sans CJK KR"/>
                <a:cs typeface="Noto Sans CJK KR"/>
              </a:defRPr>
            </a:pPr>
            <a:r>
              <a:rPr sz="1350" b="0">
                <a:solidFill>
                  <a:srgbClr val="526376"/>
                </a:solidFill>
                <a:latin typeface="Noto Sans CJK KR"/>
                <a:ea typeface="Noto Sans CJK KR"/>
                <a:cs typeface="Noto Sans CJK KR"/>
              </a:rPr>
              <a:t>02</a:t>
            </a:r>
          </a:p>
        </p:txBody>
      </p:sp>
      <p:sp>
        <p:nvSpPr>
          <p:cNvPr id="3" name="">
            <a:extLst xmlns:a="http://schemas.openxmlformats.org/drawingml/2006/main">
              <a:ext uri="{FF2B5EF4-FFF2-40B4-BE49-F238E27FC236}">
                <a16:creationId xmlns:a16="http://schemas.microsoft.com/office/drawing/2014/main" id="{2500A3C2-0989-44DF-B8E4-79AAA1D16591}"/>
              </a:ext>
            </a:extLst>
          </p:cNvPr>
          <p:cNvSpPr>
            <a:spLocks xmlns:a="http://schemas.openxmlformats.org/drawingml/2006/main" noGrp="1"/>
          </p:cNvSpPr>
          <p:nvPr/>
        </p:nvSpPr>
        <p:spPr>
          <a:xfrm xmlns:a="http://schemas.openxmlformats.org/drawingml/2006/main">
            <a:off x="723900" y="1666875"/>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86B9A"/>
                </a:solidFill>
                <a:latin typeface="Noto Sans CJK KR"/>
                <a:ea typeface="Noto Sans CJK KR"/>
                <a:cs typeface="Noto Sans CJK KR"/>
              </a:defRPr>
            </a:pPr>
            <a:r>
              <a:rPr sz="2250" b="1">
                <a:solidFill>
                  <a:srgbClr val="186B9A"/>
                </a:solidFill>
                <a:latin typeface="Noto Sans CJK KR"/>
                <a:ea typeface="Noto Sans CJK KR"/>
                <a:cs typeface="Noto Sans CJK KR"/>
              </a:rPr>
              <a:t>기관총에서 화살·대포·냉각 포탑까지</a:t>
            </a:r>
          </a:p>
        </p:txBody>
      </p:sp>
      <p:sp>
        <p:nvSpPr>
          <p:cNvPr id="4" name="">
            <a:extLst xmlns:a="http://schemas.openxmlformats.org/drawingml/2006/main">
              <a:ext uri="{FF2B5EF4-FFF2-40B4-BE49-F238E27FC236}">
                <a16:creationId xmlns:a16="http://schemas.microsoft.com/office/drawing/2014/main" id="{385D9654-330F-4AF6-9A0D-983726DC9DC0}"/>
              </a:ext>
            </a:extLst>
          </p:cNvPr>
          <p:cNvSpPr>
            <a:spLocks xmlns:a="http://schemas.openxmlformats.org/drawingml/2006/main" noGrp="1"/>
          </p:cNvSpPr>
          <p:nvPr/>
        </p:nvSpPr>
        <p:spPr>
          <a:xfrm xmlns:a="http://schemas.openxmlformats.org/drawingml/2006/main">
            <a:off x="723900" y="2143125"/>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D45"/>
                </a:solidFill>
                <a:latin typeface="Noto Sans CJK KR"/>
                <a:ea typeface="Noto Sans CJK KR"/>
                <a:cs typeface="Noto Sans CJK KR"/>
              </a:defRPr>
            </a:pPr>
            <a:r>
              <a:rPr sz="2025" b="0">
                <a:solidFill>
                  <a:srgbClr val="142D45"/>
                </a:solidFill>
                <a:latin typeface="Noto Sans CJK KR"/>
                <a:ea typeface="Noto Sans CJK KR"/>
                <a:cs typeface="Noto Sans CJK KR"/>
              </a:rPr>
              <a:t>기능을 하나씩 추가하면서 공격 범위와 명중 대상이 다양해졌다.</a:t>
            </a:r>
          </a:p>
        </p:txBody>
      </p:sp>
      <p:sp>
        <p:nvSpPr>
          <p:cNvPr id="5" name="">
            <a:extLst xmlns:a="http://schemas.openxmlformats.org/drawingml/2006/main">
              <a:ext uri="{FF2B5EF4-FFF2-40B4-BE49-F238E27FC236}">
                <a16:creationId xmlns:a16="http://schemas.microsoft.com/office/drawing/2014/main" id="{CA78EAFF-00C7-49A6-AF68-4CF7ECB88216}"/>
              </a:ext>
            </a:extLst>
          </p:cNvPr>
          <p:cNvSpPr>
            <a:spLocks xmlns:a="http://schemas.openxmlformats.org/drawingml/2006/main" noGrp="1"/>
          </p:cNvSpPr>
          <p:nvPr/>
        </p:nvSpPr>
        <p:spPr>
          <a:xfrm xmlns:a="http://schemas.openxmlformats.org/drawingml/2006/main">
            <a:off x="723900" y="3143250"/>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86B9A"/>
                </a:solidFill>
                <a:latin typeface="Noto Sans CJK KR"/>
                <a:ea typeface="Noto Sans CJK KR"/>
                <a:cs typeface="Noto Sans CJK KR"/>
              </a:defRPr>
            </a:pPr>
            <a:r>
              <a:rPr sz="2250" b="1">
                <a:solidFill>
                  <a:srgbClr val="186B9A"/>
                </a:solidFill>
                <a:latin typeface="Noto Sans CJK KR"/>
                <a:ea typeface="Noto Sans CJK KR"/>
                <a:cs typeface="Noto Sans CJK KR"/>
              </a:rPr>
              <a:t>공격 방식이 다르면, 적을 찾는 방법도 달라야 할까?</a:t>
            </a:r>
          </a:p>
        </p:txBody>
      </p:sp>
      <p:sp>
        <p:nvSpPr>
          <p:cNvPr id="6" name="">
            <a:extLst xmlns:a="http://schemas.openxmlformats.org/drawingml/2006/main">
              <a:ext uri="{FF2B5EF4-FFF2-40B4-BE49-F238E27FC236}">
                <a16:creationId xmlns:a16="http://schemas.microsoft.com/office/drawing/2014/main" id="{0A1C1B50-7E20-4DA6-9102-8C5FE761E4C8}"/>
              </a:ext>
            </a:extLst>
          </p:cNvPr>
          <p:cNvSpPr>
            <a:spLocks xmlns:a="http://schemas.openxmlformats.org/drawingml/2006/main" noGrp="1"/>
          </p:cNvSpPr>
          <p:nvPr/>
        </p:nvSpPr>
        <p:spPr>
          <a:xfrm xmlns:a="http://schemas.openxmlformats.org/drawingml/2006/main">
            <a:off x="723900" y="3619500"/>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D45"/>
                </a:solidFill>
                <a:latin typeface="Noto Sans CJK KR"/>
                <a:ea typeface="Noto Sans CJK KR"/>
                <a:cs typeface="Noto Sans CJK KR"/>
              </a:defRPr>
            </a:pPr>
            <a:r>
              <a:rPr sz="2025" b="0">
                <a:solidFill>
                  <a:srgbClr val="142D45"/>
                </a:solidFill>
                <a:latin typeface="Noto Sans CJK KR"/>
                <a:ea typeface="Noto Sans CJK KR"/>
                <a:cs typeface="Noto Sans CJK KR"/>
              </a:rPr>
              <a:t>좁은 사선과 넓은 범위 공격에 같은 탐색 방식이 효율적일까?</a:t>
            </a:r>
          </a:p>
        </p:txBody>
      </p:sp>
      <p:sp>
        <p:nvSpPr>
          <p:cNvPr id="7" name="">
            <a:extLst xmlns:a="http://schemas.openxmlformats.org/drawingml/2006/main">
              <a:ext uri="{FF2B5EF4-FFF2-40B4-BE49-F238E27FC236}">
                <a16:creationId xmlns:a16="http://schemas.microsoft.com/office/drawing/2014/main" id="{3B62E098-D54A-42DA-9BFC-247092429618}"/>
              </a:ext>
            </a:extLst>
          </p:cNvPr>
          <p:cNvSpPr>
            <a:spLocks xmlns:a="http://schemas.openxmlformats.org/drawingml/2006/main" noGrp="1"/>
          </p:cNvSpPr>
          <p:nvPr/>
        </p:nvSpPr>
        <p:spPr>
          <a:xfrm xmlns:a="http://schemas.openxmlformats.org/drawingml/2006/main">
            <a:off x="723900" y="4619625"/>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86B9A"/>
                </a:solidFill>
                <a:latin typeface="Noto Sans CJK KR"/>
                <a:ea typeface="Noto Sans CJK KR"/>
                <a:cs typeface="Noto Sans CJK KR"/>
              </a:defRPr>
            </a:pPr>
            <a:r>
              <a:rPr sz="2250" b="1">
                <a:solidFill>
                  <a:srgbClr val="186B9A"/>
                </a:solidFill>
                <a:latin typeface="Noto Sans CJK KR"/>
                <a:ea typeface="Noto Sans CJK KR"/>
                <a:cs typeface="Noto Sans CJK KR"/>
              </a:rPr>
              <a:t>이 의문을 연구로 확인해 보고 싶다</a:t>
            </a:r>
          </a:p>
        </p:txBody>
      </p:sp>
      <p:sp>
        <p:nvSpPr>
          <p:cNvPr id="8" name="">
            <a:extLst xmlns:a="http://schemas.openxmlformats.org/drawingml/2006/main">
              <a:ext uri="{FF2B5EF4-FFF2-40B4-BE49-F238E27FC236}">
                <a16:creationId xmlns:a16="http://schemas.microsoft.com/office/drawing/2014/main" id="{DA791B97-042D-40B1-BEEB-4C2B11CB074F}"/>
              </a:ext>
            </a:extLst>
          </p:cNvPr>
          <p:cNvSpPr>
            <a:spLocks xmlns:a="http://schemas.openxmlformats.org/drawingml/2006/main" noGrp="1"/>
          </p:cNvSpPr>
          <p:nvPr/>
        </p:nvSpPr>
        <p:spPr>
          <a:xfrm xmlns:a="http://schemas.openxmlformats.org/drawingml/2006/main">
            <a:off x="723900" y="5095875"/>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D45"/>
                </a:solidFill>
                <a:latin typeface="Noto Sans CJK KR"/>
                <a:ea typeface="Noto Sans CJK KR"/>
                <a:cs typeface="Noto Sans CJK KR"/>
              </a:defRPr>
            </a:pPr>
            <a:r>
              <a:rPr sz="2025" b="0">
                <a:solidFill>
                  <a:srgbClr val="142D45"/>
                </a:solidFill>
                <a:latin typeface="Noto Sans CJK KR"/>
                <a:ea typeface="Noto Sans CJK KR"/>
                <a:cs typeface="Noto Sans CJK KR"/>
              </a:rPr>
              <a:t>적이 많아질 때 탐색 방식의 차이가 실제 게임 성능에도 영향을 줄까?</a:t>
            </a:r>
          </a:p>
        </p:txBody>
      </p:sp>
    </p:spTree>
    <p:extLst>
      <p:ext uri="{BB962C8B-B14F-4D97-AF65-F5344CB8AC3E}">
        <p14:creationId xmlns:p14="http://schemas.microsoft.com/office/powerpoint/2010/main" val="158929108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9909EE0-8198-43D0-BFED-F1762DE10CA8}"/>
              </a:ext>
            </a:extLst>
          </p:cNvPr>
          <p:cNvSpPr>
            <a:spLocks xmlns:a="http://schemas.openxmlformats.org/drawingml/2006/main" noGrp="1"/>
          </p:cNvSpPr>
          <p:nvPr/>
        </p:nvSpPr>
        <p:spPr>
          <a:xfrm xmlns:a="http://schemas.openxmlformats.org/drawingml/2006/main">
            <a:off x="685800" y="49530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D45"/>
                </a:solidFill>
                <a:latin typeface="Noto Sans CJK KR"/>
                <a:ea typeface="Noto Sans CJK KR"/>
                <a:cs typeface="Noto Sans CJK KR"/>
              </a:defRPr>
            </a:pPr>
            <a:r>
              <a:rPr sz="3300" b="1">
                <a:solidFill>
                  <a:srgbClr val="142D45"/>
                </a:solidFill>
                <a:latin typeface="Noto Sans CJK KR"/>
                <a:ea typeface="Noto Sans CJK KR"/>
                <a:cs typeface="Noto Sans CJK KR"/>
              </a:rPr>
              <a:t>공격마다 찾아야 하는 대상이 다르다</a:t>
            </a:r>
          </a:p>
        </p:txBody>
      </p:sp>
      <p:sp>
        <p:nvSpPr>
          <p:cNvPr id="2" name="">
            <a:extLst xmlns:a="http://schemas.openxmlformats.org/drawingml/2006/main">
              <a:ext uri="{FF2B5EF4-FFF2-40B4-BE49-F238E27FC236}">
                <a16:creationId xmlns:a16="http://schemas.microsoft.com/office/drawing/2014/main" id="{B53ED013-2305-4B7D-9F7D-8D2DBB0E5808}"/>
              </a:ext>
            </a:extLst>
          </p:cNvPr>
          <p:cNvSpPr>
            <a:spLocks xmlns:a="http://schemas.openxmlformats.org/drawingml/2006/main" noGrp="1"/>
          </p:cNvSpPr>
          <p:nvPr/>
        </p:nvSpPr>
        <p:spPr>
          <a:xfrm xmlns:a="http://schemas.openxmlformats.org/drawingml/2006/main">
            <a:off x="11049000" y="63436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376"/>
                </a:solidFill>
                <a:latin typeface="Noto Sans CJK KR"/>
                <a:ea typeface="Noto Sans CJK KR"/>
                <a:cs typeface="Noto Sans CJK KR"/>
              </a:defRPr>
            </a:pPr>
            <a:r>
              <a:rPr sz="1350" b="0">
                <a:solidFill>
                  <a:srgbClr val="526376"/>
                </a:solidFill>
                <a:latin typeface="Noto Sans CJK KR"/>
                <a:ea typeface="Noto Sans CJK KR"/>
                <a:cs typeface="Noto Sans CJK KR"/>
              </a:rPr>
              <a:t>03</a:t>
            </a:r>
          </a:p>
        </p:txBody>
      </p:sp>
      <p:graphicFrame>
        <p:nvGraphicFramePr>
          <p:cNvPr id="7" name=""/>
          <p:cNvGraphicFramePr/>
          <p:nvPr/>
        </p:nvGraphicFramePr>
        <p:xfrm>
          <a:off xmlns:a="http://schemas.openxmlformats.org/drawingml/2006/main" x="723900" y="1666875"/>
          <a:ext xmlns:a="http://schemas.openxmlformats.org/drawingml/2006/main" cx="10744200" cy="3333750"/>
        </p:xfrm>
        <a:graphic xmlns:a="http://schemas.openxmlformats.org/drawingml/2006/main">
          <a:graphicData uri="http://schemas.openxmlformats.org/drawingml/2006/table">
            <a:tbl>
              <a:tblPr/>
              <a:tblGrid>
                <a:gridCol w="2238375"/>
                <a:gridCol w="3571875"/>
                <a:gridCol w="4933950"/>
              </a:tblGrid>
              <a:tr h="666750">
                <a:tc>
                  <a:txBody>
                    <a:bodyPr/>
                    <a:lstStyle/>
                    <a:p>
                      <a:r>
                        <a:rPr sz="2100" b="1">
                          <a:solidFill>
                            <a:srgbClr val="FFFFFF"/>
                          </a:solidFill>
                          <a:latin typeface="Noto Sans CJK KR"/>
                          <a:ea typeface="Noto Sans CJK KR"/>
                          <a:cs typeface="Noto Sans CJK KR"/>
                        </a:rPr>
                        <a:t>공격</a:t>
                      </a:r>
                    </a:p>
                  </a:txBody>
                  <a:tcPr marL="91440" marR="91440" marT="45720" marB="45720">
                    <a:solidFill>
                      <a:srgbClr val="142D45"/>
                    </a:solidFill>
                  </a:tcPr>
                </a:tc>
                <a:tc>
                  <a:txBody>
                    <a:bodyPr/>
                    <a:lstStyle/>
                    <a:p>
                      <a:r>
                        <a:rPr sz="2100" b="1">
                          <a:solidFill>
                            <a:srgbClr val="FFFFFF"/>
                          </a:solidFill>
                          <a:latin typeface="Noto Sans CJK KR"/>
                          <a:ea typeface="Noto Sans CJK KR"/>
                          <a:cs typeface="Noto Sans CJK KR"/>
                        </a:rPr>
                        <a:t>탐색 영역</a:t>
                      </a:r>
                    </a:p>
                  </a:txBody>
                  <a:tcPr marL="91440" marR="91440" marT="45720" marB="45720">
                    <a:solidFill>
                      <a:srgbClr val="142D45"/>
                    </a:solidFill>
                  </a:tcPr>
                </a:tc>
                <a:tc>
                  <a:txBody>
                    <a:bodyPr/>
                    <a:lstStyle/>
                    <a:p>
                      <a:r>
                        <a:rPr sz="2100" b="1">
                          <a:solidFill>
                            <a:srgbClr val="FFFFFF"/>
                          </a:solidFill>
                          <a:latin typeface="Noto Sans CJK KR"/>
                          <a:ea typeface="Noto Sans CJK KR"/>
                          <a:cs typeface="Noto Sans CJK KR"/>
                        </a:rPr>
                        <a:t>필요한 결과</a:t>
                      </a:r>
                    </a:p>
                  </a:txBody>
                  <a:tcPr marL="91440" marR="91440" marT="45720" marB="45720">
                    <a:solidFill>
                      <a:srgbClr val="142D45"/>
                    </a:solidFill>
                  </a:tcPr>
                </a:tc>
              </a:tr>
              <a:tr h="666750">
                <a:tc>
                  <a:txBody>
                    <a:bodyPr/>
                    <a:lstStyle/>
                    <a:p>
                      <a:r>
                        <a:rPr sz="2100" b="0">
                          <a:solidFill>
                            <a:srgbClr val="142D45"/>
                          </a:solidFill>
                          <a:latin typeface="Noto Sans CJK KR"/>
                          <a:ea typeface="Noto Sans CJK KR"/>
                          <a:cs typeface="Noto Sans CJK KR"/>
                        </a:rPr>
                        <a:t>기관총</a:t>
                      </a:r>
                    </a:p>
                  </a:txBody>
                  <a:tcPr marL="91440" marR="91440" marT="45720" marB="45720">
                    <a:solidFill>
                      <a:srgbClr val="F2F6F9"/>
                    </a:solidFill>
                  </a:tcPr>
                </a:tc>
                <a:tc>
                  <a:txBody>
                    <a:bodyPr/>
                    <a:lstStyle/>
                    <a:p>
                      <a:r>
                        <a:rPr sz="2100" b="0">
                          <a:solidFill>
                            <a:srgbClr val="142D45"/>
                          </a:solidFill>
                          <a:latin typeface="Noto Sans CJK KR"/>
                          <a:ea typeface="Noto Sans CJK KR"/>
                          <a:cs typeface="Noto Sans CJK KR"/>
                        </a:rPr>
                        <a:t>좁은 사선</a:t>
                      </a:r>
                    </a:p>
                  </a:txBody>
                  <a:tcPr marL="91440" marR="91440" marT="45720" marB="45720">
                    <a:solidFill>
                      <a:srgbClr val="F2F6F9"/>
                    </a:solidFill>
                  </a:tcPr>
                </a:tc>
                <a:tc>
                  <a:txBody>
                    <a:bodyPr/>
                    <a:lstStyle/>
                    <a:p>
                      <a:r>
                        <a:rPr sz="2100" b="0">
                          <a:solidFill>
                            <a:srgbClr val="142D45"/>
                          </a:solidFill>
                          <a:latin typeface="Noto Sans CJK KR"/>
                          <a:ea typeface="Noto Sans CJK KR"/>
                          <a:cs typeface="Noto Sans CJK KR"/>
                        </a:rPr>
                        <a:t>가장 가까운 적 1명</a:t>
                      </a:r>
                    </a:p>
                  </a:txBody>
                  <a:tcPr marL="91440" marR="91440" marT="45720" marB="45720">
                    <a:solidFill>
                      <a:srgbClr val="F2F6F9"/>
                    </a:solidFill>
                  </a:tcPr>
                </a:tc>
              </a:tr>
              <a:tr h="666750">
                <a:tc>
                  <a:txBody>
                    <a:bodyPr/>
                    <a:lstStyle/>
                    <a:p>
                      <a:r>
                        <a:rPr sz="2100" b="0">
                          <a:solidFill>
                            <a:srgbClr val="142D45"/>
                          </a:solidFill>
                          <a:latin typeface="Noto Sans CJK KR"/>
                          <a:ea typeface="Noto Sans CJK KR"/>
                          <a:cs typeface="Noto Sans CJK KR"/>
                        </a:rPr>
                        <a:t>관통 화살</a:t>
                      </a:r>
                    </a:p>
                  </a:txBody>
                  <a:tcPr marL="91440" marR="91440" marT="45720" marB="45720">
                    <a:solidFill>
                      <a:srgbClr val="FFFFFF"/>
                    </a:solidFill>
                  </a:tcPr>
                </a:tc>
                <a:tc>
                  <a:txBody>
                    <a:bodyPr/>
                    <a:lstStyle/>
                    <a:p>
                      <a:r>
                        <a:rPr sz="2100" b="0">
                          <a:solidFill>
                            <a:srgbClr val="142D45"/>
                          </a:solidFill>
                          <a:latin typeface="Noto Sans CJK KR"/>
                          <a:ea typeface="Noto Sans CJK KR"/>
                          <a:cs typeface="Noto Sans CJK KR"/>
                        </a:rPr>
                        <a:t>좁은 사선</a:t>
                      </a:r>
                    </a:p>
                  </a:txBody>
                  <a:tcPr marL="91440" marR="91440" marT="45720" marB="45720">
                    <a:solidFill>
                      <a:srgbClr val="FFFFFF"/>
                    </a:solidFill>
                  </a:tcPr>
                </a:tc>
                <a:tc>
                  <a:txBody>
                    <a:bodyPr/>
                    <a:lstStyle/>
                    <a:p>
                      <a:r>
                        <a:rPr sz="2100" b="0">
                          <a:solidFill>
                            <a:srgbClr val="142D45"/>
                          </a:solidFill>
                          <a:latin typeface="Noto Sans CJK KR"/>
                          <a:ea typeface="Noto Sans CJK KR"/>
                          <a:cs typeface="Noto Sans CJK KR"/>
                        </a:rPr>
                        <a:t>범위 안의 모든 적</a:t>
                      </a:r>
                    </a:p>
                  </a:txBody>
                  <a:tcPr marL="91440" marR="91440" marT="45720" marB="45720">
                    <a:solidFill>
                      <a:srgbClr val="FFFFFF"/>
                    </a:solidFill>
                  </a:tcPr>
                </a:tc>
              </a:tr>
              <a:tr h="666750">
                <a:tc>
                  <a:txBody>
                    <a:bodyPr/>
                    <a:lstStyle/>
                    <a:p>
                      <a:r>
                        <a:rPr sz="2100" b="0">
                          <a:solidFill>
                            <a:srgbClr val="142D45"/>
                          </a:solidFill>
                          <a:latin typeface="Noto Sans CJK KR"/>
                          <a:ea typeface="Noto Sans CJK KR"/>
                          <a:cs typeface="Noto Sans CJK KR"/>
                        </a:rPr>
                        <a:t>대포</a:t>
                      </a:r>
                    </a:p>
                  </a:txBody>
                  <a:tcPr marL="91440" marR="91440" marT="45720" marB="45720">
                    <a:solidFill>
                      <a:srgbClr val="F2F6F9"/>
                    </a:solidFill>
                  </a:tcPr>
                </a:tc>
                <a:tc>
                  <a:txBody>
                    <a:bodyPr/>
                    <a:lstStyle/>
                    <a:p>
                      <a:r>
                        <a:rPr sz="2100" b="0">
                          <a:solidFill>
                            <a:srgbClr val="142D45"/>
                          </a:solidFill>
                          <a:latin typeface="Noto Sans CJK KR"/>
                          <a:ea typeface="Noto Sans CJK KR"/>
                          <a:cs typeface="Noto Sans CJK KR"/>
                        </a:rPr>
                        <a:t>원형 폭발 범위</a:t>
                      </a:r>
                    </a:p>
                  </a:txBody>
                  <a:tcPr marL="91440" marR="91440" marT="45720" marB="45720">
                    <a:solidFill>
                      <a:srgbClr val="F2F6F9"/>
                    </a:solidFill>
                  </a:tcPr>
                </a:tc>
                <a:tc>
                  <a:txBody>
                    <a:bodyPr/>
                    <a:lstStyle/>
                    <a:p>
                      <a:r>
                        <a:rPr sz="2100" b="0">
                          <a:solidFill>
                            <a:srgbClr val="142D45"/>
                          </a:solidFill>
                          <a:latin typeface="Noto Sans CJK KR"/>
                          <a:ea typeface="Noto Sans CJK KR"/>
                          <a:cs typeface="Noto Sans CJK KR"/>
                        </a:rPr>
                        <a:t>범위 안의 모든 적</a:t>
                      </a:r>
                    </a:p>
                  </a:txBody>
                  <a:tcPr marL="91440" marR="91440" marT="45720" marB="45720">
                    <a:solidFill>
                      <a:srgbClr val="F2F6F9"/>
                    </a:solidFill>
                  </a:tcPr>
                </a:tc>
              </a:tr>
              <a:tr h="666750">
                <a:tc>
                  <a:txBody>
                    <a:bodyPr/>
                    <a:lstStyle/>
                    <a:p>
                      <a:r>
                        <a:rPr sz="2100" b="0">
                          <a:solidFill>
                            <a:srgbClr val="142D45"/>
                          </a:solidFill>
                          <a:latin typeface="Noto Sans CJK KR"/>
                          <a:ea typeface="Noto Sans CJK KR"/>
                          <a:cs typeface="Noto Sans CJK KR"/>
                        </a:rPr>
                        <a:t>냉각</a:t>
                      </a:r>
                    </a:p>
                  </a:txBody>
                  <a:tcPr marL="91440" marR="91440" marT="45720" marB="45720">
                    <a:solidFill>
                      <a:srgbClr val="FFFFFF"/>
                    </a:solidFill>
                  </a:tcPr>
                </a:tc>
                <a:tc>
                  <a:txBody>
                    <a:bodyPr/>
                    <a:lstStyle/>
                    <a:p>
                      <a:r>
                        <a:rPr sz="2100" b="0">
                          <a:solidFill>
                            <a:srgbClr val="142D45"/>
                          </a:solidFill>
                          <a:latin typeface="Noto Sans CJK KR"/>
                          <a:ea typeface="Noto Sans CJK KR"/>
                          <a:cs typeface="Noto Sans CJK KR"/>
                        </a:rPr>
                        <a:t>부채꼴 범위</a:t>
                      </a:r>
                    </a:p>
                  </a:txBody>
                  <a:tcPr marL="91440" marR="91440" marT="45720" marB="45720">
                    <a:solidFill>
                      <a:srgbClr val="FFFFFF"/>
                    </a:solidFill>
                  </a:tcPr>
                </a:tc>
                <a:tc>
                  <a:txBody>
                    <a:bodyPr/>
                    <a:lstStyle/>
                    <a:p>
                      <a:r>
                        <a:rPr sz="2100" b="0">
                          <a:solidFill>
                            <a:srgbClr val="142D45"/>
                          </a:solidFill>
                          <a:latin typeface="Noto Sans CJK KR"/>
                          <a:ea typeface="Noto Sans CJK KR"/>
                          <a:cs typeface="Noto Sans CJK KR"/>
                        </a:rPr>
                        <a:t>범위 안의 모든 적</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9A4ED73-8F0A-4C49-B8D7-39AF1F7F4B98}"/>
              </a:ext>
            </a:extLst>
          </p:cNvPr>
          <p:cNvSpPr>
            <a:spLocks xmlns:a="http://schemas.openxmlformats.org/drawingml/2006/main" noGrp="1"/>
          </p:cNvSpPr>
          <p:nvPr/>
        </p:nvSpPr>
        <p:spPr>
          <a:xfrm xmlns:a="http://schemas.openxmlformats.org/drawingml/2006/main">
            <a:off x="723900" y="5381625"/>
            <a:ext cx="10744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6B9A"/>
                </a:solidFill>
                <a:latin typeface="Noto Sans CJK KR"/>
                <a:ea typeface="Noto Sans CJK KR"/>
                <a:cs typeface="Noto Sans CJK KR"/>
              </a:defRPr>
            </a:pPr>
            <a:r>
              <a:rPr sz="2175" b="0">
                <a:solidFill>
                  <a:srgbClr val="186B9A"/>
                </a:solidFill>
                <a:latin typeface="Noto Sans CJK KR"/>
                <a:ea typeface="Noto Sans CJK KR"/>
                <a:cs typeface="Noto Sans CJK KR"/>
              </a:rPr>
              <a:t>같은 적 수라도 범위와 밀집도에 따라 검사량이 달라질 수 있다.</a:t>
            </a:r>
          </a:p>
        </p:txBody>
      </p:sp>
    </p:spTree>
    <p:extLst>
      <p:ext uri="{BB962C8B-B14F-4D97-AF65-F5344CB8AC3E}">
        <p14:creationId xmlns:p14="http://schemas.microsoft.com/office/powerpoint/2010/main" val="37199179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517D621-CB20-489B-96A2-0D70EB6990D6}"/>
              </a:ext>
            </a:extLst>
          </p:cNvPr>
          <p:cNvSpPr>
            <a:spLocks xmlns:a="http://schemas.openxmlformats.org/drawingml/2006/main" noGrp="1"/>
          </p:cNvSpPr>
          <p:nvPr/>
        </p:nvSpPr>
        <p:spPr>
          <a:xfrm xmlns:a="http://schemas.openxmlformats.org/drawingml/2006/main">
            <a:off x="685800" y="49530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D45"/>
                </a:solidFill>
                <a:latin typeface="Noto Sans CJK KR"/>
                <a:ea typeface="Noto Sans CJK KR"/>
                <a:cs typeface="Noto Sans CJK KR"/>
              </a:defRPr>
            </a:pPr>
            <a:r>
              <a:rPr sz="3300" b="1">
                <a:solidFill>
                  <a:srgbClr val="142D45"/>
                </a:solidFill>
                <a:latin typeface="Noto Sans CJK KR"/>
                <a:ea typeface="Noto Sans CJK KR"/>
                <a:cs typeface="Noto Sans CJK KR"/>
              </a:rPr>
              <a:t>연구 질문과 비교 방법</a:t>
            </a:r>
          </a:p>
        </p:txBody>
      </p:sp>
      <p:sp>
        <p:nvSpPr>
          <p:cNvPr id="2" name="">
            <a:extLst xmlns:a="http://schemas.openxmlformats.org/drawingml/2006/main">
              <a:ext uri="{FF2B5EF4-FFF2-40B4-BE49-F238E27FC236}">
                <a16:creationId xmlns:a16="http://schemas.microsoft.com/office/drawing/2014/main" id="{FDA2B409-95DB-4C74-A322-E0B966BA6EA4}"/>
              </a:ext>
            </a:extLst>
          </p:cNvPr>
          <p:cNvSpPr>
            <a:spLocks xmlns:a="http://schemas.openxmlformats.org/drawingml/2006/main" noGrp="1"/>
          </p:cNvSpPr>
          <p:nvPr/>
        </p:nvSpPr>
        <p:spPr>
          <a:xfrm xmlns:a="http://schemas.openxmlformats.org/drawingml/2006/main">
            <a:off x="11049000" y="63436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376"/>
                </a:solidFill>
                <a:latin typeface="Noto Sans CJK KR"/>
                <a:ea typeface="Noto Sans CJK KR"/>
                <a:cs typeface="Noto Sans CJK KR"/>
              </a:defRPr>
            </a:pPr>
            <a:r>
              <a:rPr sz="1350" b="0">
                <a:solidFill>
                  <a:srgbClr val="526376"/>
                </a:solidFill>
                <a:latin typeface="Noto Sans CJK KR"/>
                <a:ea typeface="Noto Sans CJK KR"/>
                <a:cs typeface="Noto Sans CJK KR"/>
              </a:rPr>
              <a:t>04</a:t>
            </a:r>
          </a:p>
        </p:txBody>
      </p:sp>
      <p:sp>
        <p:nvSpPr>
          <p:cNvPr id="3" name="">
            <a:extLst xmlns:a="http://schemas.openxmlformats.org/drawingml/2006/main">
              <a:ext uri="{FF2B5EF4-FFF2-40B4-BE49-F238E27FC236}">
                <a16:creationId xmlns:a16="http://schemas.microsoft.com/office/drawing/2014/main" id="{CFD850E6-0755-4CE6-ADCE-40D77FC023A8}"/>
              </a:ext>
            </a:extLst>
          </p:cNvPr>
          <p:cNvSpPr>
            <a:spLocks xmlns:a="http://schemas.openxmlformats.org/drawingml/2006/main" noGrp="1"/>
          </p:cNvSpPr>
          <p:nvPr/>
        </p:nvSpPr>
        <p:spPr>
          <a:xfrm xmlns:a="http://schemas.openxmlformats.org/drawingml/2006/main">
            <a:off x="723900" y="1619250"/>
            <a:ext cx="107442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86B9A"/>
                </a:solidFill>
                <a:latin typeface="Noto Sans CJK KR"/>
                <a:ea typeface="Noto Sans CJK KR"/>
                <a:cs typeface="Noto Sans CJK KR"/>
              </a:defRPr>
            </a:pPr>
            <a:r>
              <a:rPr sz="2700" b="1">
                <a:solidFill>
                  <a:srgbClr val="186B9A"/>
                </a:solidFill>
                <a:latin typeface="Noto Sans CJK KR"/>
                <a:ea typeface="Noto Sans CJK KR"/>
                <a:cs typeface="Noto Sans CJK KR"/>
              </a:rPr>
              <a:t>공격 형태와 적 밀도에 맞춰 탐색 방식을 선택하면</a:t>
            </a:r>
          </a:p>
          <a:p xmlns:a="http://schemas.openxmlformats.org/drawingml/2006/main">
            <a:pPr>
              <a:defRPr sz="2700" b="1">
                <a:solidFill>
                  <a:srgbClr val="186B9A"/>
                </a:solidFill>
                <a:latin typeface="Noto Sans CJK KR"/>
                <a:ea typeface="Noto Sans CJK KR"/>
                <a:cs typeface="Noto Sans CJK KR"/>
              </a:defRPr>
            </a:pPr>
            <a:r>
              <a:rPr sz="2700" b="1">
                <a:solidFill>
                  <a:srgbClr val="186B9A"/>
                </a:solidFill>
                <a:latin typeface="Noto Sans CJK KR"/>
                <a:ea typeface="Noto Sans CJK KR"/>
                <a:cs typeface="Noto Sans CJK KR"/>
              </a:rPr>
              <a:t>동일한 명중 결과를 더 적은 비용으로 계산할 수 있을까?</a:t>
            </a:r>
          </a:p>
        </p:txBody>
      </p:sp>
      <p:sp>
        <p:nvSpPr>
          <p:cNvPr id="4" name="">
            <a:extLst xmlns:a="http://schemas.openxmlformats.org/drawingml/2006/main">
              <a:ext uri="{FF2B5EF4-FFF2-40B4-BE49-F238E27FC236}">
                <a16:creationId xmlns:a16="http://schemas.microsoft.com/office/drawing/2014/main" id="{3DC5B251-AFC7-4AB1-A993-64AA0A8AA56D}"/>
              </a:ext>
            </a:extLst>
          </p:cNvPr>
          <p:cNvSpPr>
            <a:spLocks xmlns:a="http://schemas.openxmlformats.org/drawingml/2006/main" noGrp="1"/>
          </p:cNvSpPr>
          <p:nvPr/>
        </p:nvSpPr>
        <p:spPr>
          <a:xfrm xmlns:a="http://schemas.openxmlformats.org/drawingml/2006/main">
            <a:off x="723900" y="3286125"/>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86B9A"/>
                </a:solidFill>
                <a:latin typeface="Noto Sans CJK KR"/>
                <a:ea typeface="Noto Sans CJK KR"/>
                <a:cs typeface="Noto Sans CJK KR"/>
              </a:defRPr>
            </a:pPr>
            <a:r>
              <a:rPr sz="2250" b="1">
                <a:solidFill>
                  <a:srgbClr val="186B9A"/>
                </a:solidFill>
                <a:latin typeface="Noto Sans CJK KR"/>
                <a:ea typeface="Noto Sans CJK KR"/>
                <a:cs typeface="Noto Sans CJK KR"/>
              </a:rPr>
              <a:t>비교 대상</a:t>
            </a:r>
          </a:p>
        </p:txBody>
      </p:sp>
      <p:sp>
        <p:nvSpPr>
          <p:cNvPr id="5" name="">
            <a:extLst xmlns:a="http://schemas.openxmlformats.org/drawingml/2006/main">
              <a:ext uri="{FF2B5EF4-FFF2-40B4-BE49-F238E27FC236}">
                <a16:creationId xmlns:a16="http://schemas.microsoft.com/office/drawing/2014/main" id="{3B3CD491-0B3C-4196-BA04-CD53F6B99D2A}"/>
              </a:ext>
            </a:extLst>
          </p:cNvPr>
          <p:cNvSpPr>
            <a:spLocks xmlns:a="http://schemas.openxmlformats.org/drawingml/2006/main" noGrp="1"/>
          </p:cNvSpPr>
          <p:nvPr/>
        </p:nvSpPr>
        <p:spPr>
          <a:xfrm xmlns:a="http://schemas.openxmlformats.org/drawingml/2006/main">
            <a:off x="723900" y="3762375"/>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D45"/>
                </a:solidFill>
                <a:latin typeface="Noto Sans CJK KR"/>
                <a:ea typeface="Noto Sans CJK KR"/>
                <a:cs typeface="Noto Sans CJK KR"/>
              </a:defRPr>
            </a:pPr>
            <a:r>
              <a:rPr sz="2025" b="0">
                <a:solidFill>
                  <a:srgbClr val="142D45"/>
                </a:solidFill>
                <a:latin typeface="Noto Sans CJK KR"/>
                <a:ea typeface="Noto Sans CJK KR"/>
                <a:cs typeface="Noto Sans CJK KR"/>
              </a:rPr>
              <a:t>전체 순회 / 균일 격자 / 조건에 따른 선택 방식(후보)</a:t>
            </a:r>
          </a:p>
        </p:txBody>
      </p:sp>
      <p:sp>
        <p:nvSpPr>
          <p:cNvPr id="6" name="">
            <a:extLst xmlns:a="http://schemas.openxmlformats.org/drawingml/2006/main">
              <a:ext uri="{FF2B5EF4-FFF2-40B4-BE49-F238E27FC236}">
                <a16:creationId xmlns:a16="http://schemas.microsoft.com/office/drawing/2014/main" id="{D2DA6802-A870-4F4D-A9E0-FB57F15899CD}"/>
              </a:ext>
            </a:extLst>
          </p:cNvPr>
          <p:cNvSpPr>
            <a:spLocks xmlns:a="http://schemas.openxmlformats.org/drawingml/2006/main" noGrp="1"/>
          </p:cNvSpPr>
          <p:nvPr/>
        </p:nvSpPr>
        <p:spPr>
          <a:xfrm xmlns:a="http://schemas.openxmlformats.org/drawingml/2006/main">
            <a:off x="723900" y="4762500"/>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86B9A"/>
                </a:solidFill>
                <a:latin typeface="Noto Sans CJK KR"/>
                <a:ea typeface="Noto Sans CJK KR"/>
                <a:cs typeface="Noto Sans CJK KR"/>
              </a:defRPr>
            </a:pPr>
            <a:r>
              <a:rPr sz="2250" b="1">
                <a:solidFill>
                  <a:srgbClr val="186B9A"/>
                </a:solidFill>
                <a:latin typeface="Noto Sans CJK KR"/>
                <a:ea typeface="Noto Sans CJK KR"/>
                <a:cs typeface="Noto Sans CJK KR"/>
              </a:rPr>
              <a:t>검증 기준</a:t>
            </a:r>
          </a:p>
        </p:txBody>
      </p:sp>
      <p:sp>
        <p:nvSpPr>
          <p:cNvPr id="7" name="">
            <a:extLst xmlns:a="http://schemas.openxmlformats.org/drawingml/2006/main">
              <a:ext uri="{FF2B5EF4-FFF2-40B4-BE49-F238E27FC236}">
                <a16:creationId xmlns:a16="http://schemas.microsoft.com/office/drawing/2014/main" id="{1A15CBA0-F6FC-4523-B05D-516CEF3285FA}"/>
              </a:ext>
            </a:extLst>
          </p:cNvPr>
          <p:cNvSpPr>
            <a:spLocks xmlns:a="http://schemas.openxmlformats.org/drawingml/2006/main" noGrp="1"/>
          </p:cNvSpPr>
          <p:nvPr/>
        </p:nvSpPr>
        <p:spPr>
          <a:xfrm xmlns:a="http://schemas.openxmlformats.org/drawingml/2006/main">
            <a:off x="723900" y="5238750"/>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D45"/>
                </a:solidFill>
                <a:latin typeface="Noto Sans CJK KR"/>
                <a:ea typeface="Noto Sans CJK KR"/>
                <a:cs typeface="Noto Sans CJK KR"/>
              </a:defRPr>
            </a:pPr>
            <a:r>
              <a:rPr sz="2025" b="0">
                <a:solidFill>
                  <a:srgbClr val="142D45"/>
                </a:solidFill>
                <a:latin typeface="Noto Sans CJK KR"/>
                <a:ea typeface="Noto Sans CJK KR"/>
                <a:cs typeface="Noto Sans CJK KR"/>
              </a:rPr>
              <a:t>명중 대상 일치 여부와 탐색 비용. 방식 선택·자료구조 유지 비용도 포함.</a:t>
            </a:r>
          </a:p>
        </p:txBody>
      </p:sp>
    </p:spTree>
    <p:extLst>
      <p:ext uri="{BB962C8B-B14F-4D97-AF65-F5344CB8AC3E}">
        <p14:creationId xmlns:p14="http://schemas.microsoft.com/office/powerpoint/2010/main" val="21847617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AB71943-355D-467A-928A-11AC6EF16D2E}"/>
              </a:ext>
            </a:extLst>
          </p:cNvPr>
          <p:cNvSpPr>
            <a:spLocks xmlns:a="http://schemas.openxmlformats.org/drawingml/2006/main" noGrp="1"/>
          </p:cNvSpPr>
          <p:nvPr/>
        </p:nvSpPr>
        <p:spPr>
          <a:xfrm xmlns:a="http://schemas.openxmlformats.org/drawingml/2006/main">
            <a:off x="685800" y="49530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D45"/>
                </a:solidFill>
                <a:latin typeface="Noto Sans CJK KR"/>
                <a:ea typeface="Noto Sans CJK KR"/>
                <a:cs typeface="Noto Sans CJK KR"/>
              </a:defRPr>
            </a:pPr>
            <a:r>
              <a:rPr sz="3300" b="1">
                <a:solidFill>
                  <a:srgbClr val="142D45"/>
                </a:solidFill>
                <a:latin typeface="Noto Sans CJK KR"/>
                <a:ea typeface="Noto Sans CJK KR"/>
                <a:cs typeface="Noto Sans CJK KR"/>
              </a:rPr>
              <a:t>실험은 탐색과 실제 전투로 나눈다</a:t>
            </a:r>
          </a:p>
        </p:txBody>
      </p:sp>
      <p:sp>
        <p:nvSpPr>
          <p:cNvPr id="2" name="">
            <a:extLst xmlns:a="http://schemas.openxmlformats.org/drawingml/2006/main">
              <a:ext uri="{FF2B5EF4-FFF2-40B4-BE49-F238E27FC236}">
                <a16:creationId xmlns:a16="http://schemas.microsoft.com/office/drawing/2014/main" id="{9E6C90B1-A5D1-47A9-9FF8-45CA7F128DF7}"/>
              </a:ext>
            </a:extLst>
          </p:cNvPr>
          <p:cNvSpPr>
            <a:spLocks xmlns:a="http://schemas.openxmlformats.org/drawingml/2006/main" noGrp="1"/>
          </p:cNvSpPr>
          <p:nvPr/>
        </p:nvSpPr>
        <p:spPr>
          <a:xfrm xmlns:a="http://schemas.openxmlformats.org/drawingml/2006/main">
            <a:off x="11049000" y="63436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376"/>
                </a:solidFill>
                <a:latin typeface="Noto Sans CJK KR"/>
                <a:ea typeface="Noto Sans CJK KR"/>
                <a:cs typeface="Noto Sans CJK KR"/>
              </a:defRPr>
            </a:pPr>
            <a:r>
              <a:rPr sz="1350" b="0">
                <a:solidFill>
                  <a:srgbClr val="526376"/>
                </a:solidFill>
                <a:latin typeface="Noto Sans CJK KR"/>
                <a:ea typeface="Noto Sans CJK KR"/>
                <a:cs typeface="Noto Sans CJK KR"/>
              </a:rPr>
              <a:t>05</a:t>
            </a:r>
          </a:p>
        </p:txBody>
      </p:sp>
      <p:sp>
        <p:nvSpPr>
          <p:cNvPr id="3" name="">
            <a:extLst xmlns:a="http://schemas.openxmlformats.org/drawingml/2006/main">
              <a:ext uri="{FF2B5EF4-FFF2-40B4-BE49-F238E27FC236}">
                <a16:creationId xmlns:a16="http://schemas.microsoft.com/office/drawing/2014/main" id="{82681D47-38FA-466E-862A-7C28553B05F1}"/>
              </a:ext>
            </a:extLst>
          </p:cNvPr>
          <p:cNvSpPr>
            <a:spLocks xmlns:a="http://schemas.openxmlformats.org/drawingml/2006/main" noGrp="1"/>
          </p:cNvSpPr>
          <p:nvPr/>
        </p:nvSpPr>
        <p:spPr>
          <a:xfrm xmlns:a="http://schemas.openxmlformats.org/drawingml/2006/main">
            <a:off x="723900" y="1619250"/>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86B9A"/>
                </a:solidFill>
                <a:latin typeface="Noto Sans CJK KR"/>
                <a:ea typeface="Noto Sans CJK KR"/>
                <a:cs typeface="Noto Sans CJK KR"/>
              </a:defRPr>
            </a:pPr>
            <a:r>
              <a:rPr sz="2550" b="1">
                <a:solidFill>
                  <a:srgbClr val="186B9A"/>
                </a:solidFill>
                <a:latin typeface="Noto Sans CJK KR"/>
                <a:ea typeface="Noto Sans CJK KR"/>
                <a:cs typeface="Noto Sans CJK KR"/>
              </a:rPr>
              <a:t>1. 탐색 단독 실험</a:t>
            </a:r>
          </a:p>
        </p:txBody>
      </p:sp>
      <p:sp>
        <p:nvSpPr>
          <p:cNvPr id="4" name="">
            <a:extLst xmlns:a="http://schemas.openxmlformats.org/drawingml/2006/main">
              <a:ext uri="{FF2B5EF4-FFF2-40B4-BE49-F238E27FC236}">
                <a16:creationId xmlns:a16="http://schemas.microsoft.com/office/drawing/2014/main" id="{6E0C6D10-034B-44F2-8119-520145014A72}"/>
              </a:ext>
            </a:extLst>
          </p:cNvPr>
          <p:cNvSpPr>
            <a:spLocks xmlns:a="http://schemas.openxmlformats.org/drawingml/2006/main" noGrp="1"/>
          </p:cNvSpPr>
          <p:nvPr/>
        </p:nvSpPr>
        <p:spPr>
          <a:xfrm xmlns:a="http://schemas.openxmlformats.org/drawingml/2006/main">
            <a:off x="723900" y="2305050"/>
            <a:ext cx="50482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D45"/>
                </a:solidFill>
                <a:latin typeface="Noto Sans CJK KR"/>
                <a:ea typeface="Noto Sans CJK KR"/>
                <a:cs typeface="Noto Sans CJK KR"/>
              </a:defRPr>
            </a:pPr>
            <a:r>
              <a:rPr sz="2175" b="0">
                <a:solidFill>
                  <a:srgbClr val="142D45"/>
                </a:solidFill>
                <a:latin typeface="Noto Sans CJK KR"/>
                <a:ea typeface="Noto Sans CJK KR"/>
                <a:cs typeface="Noto Sans CJK KR"/>
              </a:rPr>
              <a:t>같은 적 배치와 공격 조건</a:t>
            </a:r>
          </a:p>
          <a:p xmlns:a="http://schemas.openxmlformats.org/drawingml/2006/main">
            <a:r>
              <a:t/>
            </a:r>
          </a:p>
          <a:p xmlns:a="http://schemas.openxmlformats.org/drawingml/2006/main">
            <a:pPr>
              <a:defRPr sz="2175" b="0">
                <a:solidFill>
                  <a:srgbClr val="142D45"/>
                </a:solidFill>
                <a:latin typeface="Noto Sans CJK KR"/>
                <a:ea typeface="Noto Sans CJK KR"/>
                <a:cs typeface="Noto Sans CJK KR"/>
              </a:defRPr>
            </a:pPr>
            <a:r>
              <a:rPr sz="2175" b="0">
                <a:solidFill>
                  <a:srgbClr val="142D45"/>
                </a:solidFill>
                <a:latin typeface="Noto Sans CJK KR"/>
                <a:ea typeface="Noto Sans CJK KR"/>
                <a:cs typeface="Noto Sans CJK KR"/>
              </a:rPr>
              <a:t>탐색 시간과 검사 대상 수</a:t>
            </a:r>
          </a:p>
          <a:p xmlns:a="http://schemas.openxmlformats.org/drawingml/2006/main">
            <a:pPr>
              <a:defRPr sz="2175" b="0">
                <a:solidFill>
                  <a:srgbClr val="142D45"/>
                </a:solidFill>
                <a:latin typeface="Noto Sans CJK KR"/>
                <a:ea typeface="Noto Sans CJK KR"/>
                <a:cs typeface="Noto Sans CJK KR"/>
              </a:defRPr>
            </a:pPr>
            <a:r>
              <a:rPr sz="2175" b="0">
                <a:solidFill>
                  <a:srgbClr val="142D45"/>
                </a:solidFill>
                <a:latin typeface="Noto Sans CJK KR"/>
                <a:ea typeface="Noto Sans CJK KR"/>
                <a:cs typeface="Noto Sans CJK KR"/>
              </a:rPr>
              <a:t>명중 결과 일치 여부</a:t>
            </a:r>
          </a:p>
        </p:txBody>
      </p:sp>
      <p:sp>
        <p:nvSpPr>
          <p:cNvPr id="5" name="">
            <a:extLst xmlns:a="http://schemas.openxmlformats.org/drawingml/2006/main">
              <a:ext uri="{FF2B5EF4-FFF2-40B4-BE49-F238E27FC236}">
                <a16:creationId xmlns:a16="http://schemas.microsoft.com/office/drawing/2014/main" id="{91603D6D-92F7-4F63-B08B-DD6310660129}"/>
              </a:ext>
            </a:extLst>
          </p:cNvPr>
          <p:cNvSpPr>
            <a:spLocks xmlns:a="http://schemas.openxmlformats.org/drawingml/2006/main" noGrp="1"/>
          </p:cNvSpPr>
          <p:nvPr/>
        </p:nvSpPr>
        <p:spPr>
          <a:xfrm xmlns:a="http://schemas.openxmlformats.org/drawingml/2006/main">
            <a:off x="6534150" y="1619250"/>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86B9A"/>
                </a:solidFill>
                <a:latin typeface="Noto Sans CJK KR"/>
                <a:ea typeface="Noto Sans CJK KR"/>
                <a:cs typeface="Noto Sans CJK KR"/>
              </a:defRPr>
            </a:pPr>
            <a:r>
              <a:rPr sz="2550" b="1">
                <a:solidFill>
                  <a:srgbClr val="186B9A"/>
                </a:solidFill>
                <a:latin typeface="Noto Sans CJK KR"/>
                <a:ea typeface="Noto Sans CJK KR"/>
                <a:cs typeface="Noto Sans CJK KR"/>
              </a:rPr>
              <a:t>2. 실제 전투 실험</a:t>
            </a:r>
          </a:p>
        </p:txBody>
      </p:sp>
      <p:sp>
        <p:nvSpPr>
          <p:cNvPr id="6" name="">
            <a:extLst xmlns:a="http://schemas.openxmlformats.org/drawingml/2006/main">
              <a:ext uri="{FF2B5EF4-FFF2-40B4-BE49-F238E27FC236}">
                <a16:creationId xmlns:a16="http://schemas.microsoft.com/office/drawing/2014/main" id="{C09700CF-7472-486A-B5C6-5A075EDF4833}"/>
              </a:ext>
            </a:extLst>
          </p:cNvPr>
          <p:cNvSpPr>
            <a:spLocks xmlns:a="http://schemas.openxmlformats.org/drawingml/2006/main" noGrp="1"/>
          </p:cNvSpPr>
          <p:nvPr/>
        </p:nvSpPr>
        <p:spPr>
          <a:xfrm xmlns:a="http://schemas.openxmlformats.org/drawingml/2006/main">
            <a:off x="6534150" y="2305050"/>
            <a:ext cx="50482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D45"/>
                </a:solidFill>
                <a:latin typeface="Noto Sans CJK KR"/>
                <a:ea typeface="Noto Sans CJK KR"/>
                <a:cs typeface="Noto Sans CJK KR"/>
              </a:defRPr>
            </a:pPr>
            <a:r>
              <a:rPr sz="2175" b="0">
                <a:solidFill>
                  <a:srgbClr val="142D45"/>
                </a:solidFill>
                <a:latin typeface="Noto Sans CJK KR"/>
                <a:ea typeface="Noto Sans CJK KR"/>
                <a:cs typeface="Noto Sans CJK KR"/>
              </a:rPr>
              <a:t>적 수·밀집도·포탑 수 변화</a:t>
            </a:r>
          </a:p>
          <a:p xmlns:a="http://schemas.openxmlformats.org/drawingml/2006/main">
            <a:r>
              <a:t/>
            </a:r>
          </a:p>
          <a:p xmlns:a="http://schemas.openxmlformats.org/drawingml/2006/main">
            <a:pPr>
              <a:defRPr sz="2175" b="0">
                <a:solidFill>
                  <a:srgbClr val="142D45"/>
                </a:solidFill>
                <a:latin typeface="Noto Sans CJK KR"/>
                <a:ea typeface="Noto Sans CJK KR"/>
                <a:cs typeface="Noto Sans CJK KR"/>
              </a:defRPr>
            </a:pPr>
            <a:r>
              <a:rPr sz="2175" b="0">
                <a:solidFill>
                  <a:srgbClr val="142D45"/>
                </a:solidFill>
                <a:latin typeface="Noto Sans CJK KR"/>
                <a:ea typeface="Noto Sans CJK KR"/>
                <a:cs typeface="Noto Sans CJK KR"/>
              </a:rPr>
              <a:t>전체 프레임 시간과 CPU/GPU 시간</a:t>
            </a:r>
          </a:p>
          <a:p xmlns:a="http://schemas.openxmlformats.org/drawingml/2006/main">
            <a:pPr>
              <a:defRPr sz="2175" b="0">
                <a:solidFill>
                  <a:srgbClr val="142D45"/>
                </a:solidFill>
                <a:latin typeface="Noto Sans CJK KR"/>
                <a:ea typeface="Noto Sans CJK KR"/>
                <a:cs typeface="Noto Sans CJK KR"/>
              </a:defRPr>
            </a:pPr>
            <a:r>
              <a:rPr sz="2175" b="0">
                <a:solidFill>
                  <a:srgbClr val="142D45"/>
                </a:solidFill>
                <a:latin typeface="Noto Sans CJK KR"/>
                <a:ea typeface="Noto Sans CJK KR"/>
                <a:cs typeface="Noto Sans CJK KR"/>
              </a:rPr>
              <a:t>긴 프레임의 빈도와 크기</a:t>
            </a:r>
          </a:p>
        </p:txBody>
      </p:sp>
      <p:sp>
        <p:nvSpPr>
          <p:cNvPr id="7" name="">
            <a:extLst xmlns:a="http://schemas.openxmlformats.org/drawingml/2006/main">
              <a:ext uri="{FF2B5EF4-FFF2-40B4-BE49-F238E27FC236}">
                <a16:creationId xmlns:a16="http://schemas.microsoft.com/office/drawing/2014/main" id="{E82035CD-E696-4EFF-A903-B2E1007D9C33}"/>
              </a:ext>
            </a:extLst>
          </p:cNvPr>
          <p:cNvSpPr>
            <a:spLocks xmlns:a="http://schemas.openxmlformats.org/drawingml/2006/main" noGrp="1"/>
          </p:cNvSpPr>
          <p:nvPr/>
        </p:nvSpPr>
        <p:spPr>
          <a:xfrm xmlns:a="http://schemas.openxmlformats.org/drawingml/2006/main">
            <a:off x="723900" y="5238750"/>
            <a:ext cx="10744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26376"/>
                </a:solidFill>
                <a:latin typeface="Noto Sans CJK KR"/>
                <a:ea typeface="Noto Sans CJK KR"/>
                <a:cs typeface="Noto Sans CJK KR"/>
              </a:defRPr>
            </a:pPr>
            <a:r>
              <a:rPr sz="1950" b="0">
                <a:solidFill>
                  <a:srgbClr val="526376"/>
                </a:solidFill>
                <a:latin typeface="Noto Sans CJK KR"/>
                <a:ea typeface="Noto Sans CJK KR"/>
                <a:cs typeface="Noto Sans CJK KR"/>
              </a:rPr>
              <a:t>통제 조건: 장비, 해상도, 난수 시드, 포탑 배치, 시뮬레이션 시간 간격</a:t>
            </a:r>
          </a:p>
        </p:txBody>
      </p:sp>
    </p:spTree>
    <p:extLst>
      <p:ext uri="{BB962C8B-B14F-4D97-AF65-F5344CB8AC3E}">
        <p14:creationId xmlns:p14="http://schemas.microsoft.com/office/powerpoint/2010/main" val="135733800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1A110B2-758F-478F-8FA0-96879400C525}"/>
              </a:ext>
            </a:extLst>
          </p:cNvPr>
          <p:cNvSpPr>
            <a:spLocks xmlns:a="http://schemas.openxmlformats.org/drawingml/2006/main" noGrp="1"/>
          </p:cNvSpPr>
          <p:nvPr/>
        </p:nvSpPr>
        <p:spPr>
          <a:xfrm xmlns:a="http://schemas.openxmlformats.org/drawingml/2006/main">
            <a:off x="685800" y="49530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D45"/>
                </a:solidFill>
                <a:latin typeface="Noto Sans CJK KR"/>
                <a:ea typeface="Noto Sans CJK KR"/>
                <a:cs typeface="Noto Sans CJK KR"/>
              </a:defRPr>
            </a:pPr>
            <a:r>
              <a:rPr sz="3300" b="1">
                <a:solidFill>
                  <a:srgbClr val="142D45"/>
                </a:solidFill>
                <a:latin typeface="Noto Sans CJK KR"/>
                <a:ea typeface="Noto Sans CJK KR"/>
                <a:cs typeface="Noto Sans CJK KR"/>
              </a:rPr>
              <a:t>예상 기여와 진행 계획</a:t>
            </a:r>
          </a:p>
        </p:txBody>
      </p:sp>
      <p:sp>
        <p:nvSpPr>
          <p:cNvPr id="2" name="">
            <a:extLst xmlns:a="http://schemas.openxmlformats.org/drawingml/2006/main">
              <a:ext uri="{FF2B5EF4-FFF2-40B4-BE49-F238E27FC236}">
                <a16:creationId xmlns:a16="http://schemas.microsoft.com/office/drawing/2014/main" id="{986B5582-832E-4ABF-BFA8-60B44A8E8372}"/>
              </a:ext>
            </a:extLst>
          </p:cNvPr>
          <p:cNvSpPr>
            <a:spLocks xmlns:a="http://schemas.openxmlformats.org/drawingml/2006/main" noGrp="1"/>
          </p:cNvSpPr>
          <p:nvPr/>
        </p:nvSpPr>
        <p:spPr>
          <a:xfrm xmlns:a="http://schemas.openxmlformats.org/drawingml/2006/main">
            <a:off x="11049000" y="63436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376"/>
                </a:solidFill>
                <a:latin typeface="Noto Sans CJK KR"/>
                <a:ea typeface="Noto Sans CJK KR"/>
                <a:cs typeface="Noto Sans CJK KR"/>
              </a:defRPr>
            </a:pPr>
            <a:r>
              <a:rPr sz="1350" b="0">
                <a:solidFill>
                  <a:srgbClr val="526376"/>
                </a:solidFill>
                <a:latin typeface="Noto Sans CJK KR"/>
                <a:ea typeface="Noto Sans CJK KR"/>
                <a:cs typeface="Noto Sans CJK KR"/>
              </a:rPr>
              <a:t>06</a:t>
            </a:r>
          </a:p>
        </p:txBody>
      </p:sp>
      <p:sp>
        <p:nvSpPr>
          <p:cNvPr id="3" name="">
            <a:extLst xmlns:a="http://schemas.openxmlformats.org/drawingml/2006/main">
              <a:ext uri="{FF2B5EF4-FFF2-40B4-BE49-F238E27FC236}">
                <a16:creationId xmlns:a16="http://schemas.microsoft.com/office/drawing/2014/main" id="{6AA8FF3B-34E8-4810-8D5E-6020558DE7CF}"/>
              </a:ext>
            </a:extLst>
          </p:cNvPr>
          <p:cNvSpPr>
            <a:spLocks xmlns:a="http://schemas.openxmlformats.org/drawingml/2006/main" noGrp="1"/>
          </p:cNvSpPr>
          <p:nvPr/>
        </p:nvSpPr>
        <p:spPr>
          <a:xfrm xmlns:a="http://schemas.openxmlformats.org/drawingml/2006/main">
            <a:off x="723900" y="1571625"/>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86B9A"/>
                </a:solidFill>
                <a:latin typeface="Noto Sans CJK KR"/>
                <a:ea typeface="Noto Sans CJK KR"/>
                <a:cs typeface="Noto Sans CJK KR"/>
              </a:defRPr>
            </a:pPr>
            <a:r>
              <a:rPr sz="2250" b="1">
                <a:solidFill>
                  <a:srgbClr val="186B9A"/>
                </a:solidFill>
                <a:latin typeface="Noto Sans CJK KR"/>
                <a:ea typeface="Noto Sans CJK KR"/>
                <a:cs typeface="Noto Sans CJK KR"/>
              </a:rPr>
              <a:t>예상 기여</a:t>
            </a:r>
          </a:p>
        </p:txBody>
      </p:sp>
      <p:sp>
        <p:nvSpPr>
          <p:cNvPr id="4" name="">
            <a:extLst xmlns:a="http://schemas.openxmlformats.org/drawingml/2006/main">
              <a:ext uri="{FF2B5EF4-FFF2-40B4-BE49-F238E27FC236}">
                <a16:creationId xmlns:a16="http://schemas.microsoft.com/office/drawing/2014/main" id="{6A909B2E-CC31-4859-A05F-A145C460A6CE}"/>
              </a:ext>
            </a:extLst>
          </p:cNvPr>
          <p:cNvSpPr>
            <a:spLocks xmlns:a="http://schemas.openxmlformats.org/drawingml/2006/main" noGrp="1"/>
          </p:cNvSpPr>
          <p:nvPr/>
        </p:nvSpPr>
        <p:spPr>
          <a:xfrm xmlns:a="http://schemas.openxmlformats.org/drawingml/2006/main">
            <a:off x="723900" y="2047875"/>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D45"/>
                </a:solidFill>
                <a:latin typeface="Noto Sans CJK KR"/>
                <a:ea typeface="Noto Sans CJK KR"/>
                <a:cs typeface="Noto Sans CJK KR"/>
              </a:defRPr>
            </a:pPr>
            <a:r>
              <a:rPr sz="2025" b="0">
                <a:solidFill>
                  <a:srgbClr val="142D45"/>
                </a:solidFill>
                <a:latin typeface="Noto Sans CJK KR"/>
                <a:ea typeface="Noto Sans CJK KR"/>
                <a:cs typeface="Noto Sans CJK KR"/>
              </a:rPr>
              <a:t>어떤 공격·적 분포에서 어떤 탐색 방식이 유리한지 개발 지침 제시.</a:t>
            </a:r>
          </a:p>
        </p:txBody>
      </p:sp>
      <p:sp>
        <p:nvSpPr>
          <p:cNvPr id="5" name="">
            <a:extLst xmlns:a="http://schemas.openxmlformats.org/drawingml/2006/main">
              <a:ext uri="{FF2B5EF4-FFF2-40B4-BE49-F238E27FC236}">
                <a16:creationId xmlns:a16="http://schemas.microsoft.com/office/drawing/2014/main" id="{719E3856-8E5C-440A-ADF2-35FF3C80B896}"/>
              </a:ext>
            </a:extLst>
          </p:cNvPr>
          <p:cNvSpPr>
            <a:spLocks xmlns:a="http://schemas.openxmlformats.org/drawingml/2006/main" noGrp="1"/>
          </p:cNvSpPr>
          <p:nvPr/>
        </p:nvSpPr>
        <p:spPr>
          <a:xfrm xmlns:a="http://schemas.openxmlformats.org/drawingml/2006/main">
            <a:off x="723900" y="3095625"/>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86B9A"/>
                </a:solidFill>
                <a:latin typeface="Noto Sans CJK KR"/>
                <a:ea typeface="Noto Sans CJK KR"/>
                <a:cs typeface="Noto Sans CJK KR"/>
              </a:defRPr>
            </a:pPr>
            <a:r>
              <a:rPr sz="2250" b="1">
                <a:solidFill>
                  <a:srgbClr val="186B9A"/>
                </a:solidFill>
                <a:latin typeface="Noto Sans CJK KR"/>
                <a:ea typeface="Noto Sans CJK KR"/>
                <a:cs typeface="Noto Sans CJK KR"/>
              </a:rPr>
              <a:t>다음 작업</a:t>
            </a:r>
          </a:p>
        </p:txBody>
      </p:sp>
      <p:sp>
        <p:nvSpPr>
          <p:cNvPr id="6" name="">
            <a:extLst xmlns:a="http://schemas.openxmlformats.org/drawingml/2006/main">
              <a:ext uri="{FF2B5EF4-FFF2-40B4-BE49-F238E27FC236}">
                <a16:creationId xmlns:a16="http://schemas.microsoft.com/office/drawing/2014/main" id="{3F2EA118-B58D-4DCB-ABFA-366F04B412AA}"/>
              </a:ext>
            </a:extLst>
          </p:cNvPr>
          <p:cNvSpPr>
            <a:spLocks xmlns:a="http://schemas.openxmlformats.org/drawingml/2006/main" noGrp="1"/>
          </p:cNvSpPr>
          <p:nvPr/>
        </p:nvSpPr>
        <p:spPr>
          <a:xfrm xmlns:a="http://schemas.openxmlformats.org/drawingml/2006/main">
            <a:off x="723900" y="3571875"/>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D45"/>
                </a:solidFill>
                <a:latin typeface="Noto Sans CJK KR"/>
                <a:ea typeface="Noto Sans CJK KR"/>
                <a:cs typeface="Noto Sans CJK KR"/>
              </a:defRPr>
            </a:pPr>
            <a:r>
              <a:rPr sz="2025" b="0">
                <a:solidFill>
                  <a:srgbClr val="142D45"/>
                </a:solidFill>
                <a:latin typeface="Noto Sans CJK KR"/>
                <a:ea typeface="Noto Sans CJK KR"/>
                <a:cs typeface="Noto Sans CJK KR"/>
              </a:rPr>
              <a:t>선행연구 검토와 병목 측정 후, 비교 실험으로 선택 규칙 설계.</a:t>
            </a:r>
          </a:p>
        </p:txBody>
      </p:sp>
      <p:sp>
        <p:nvSpPr>
          <p:cNvPr id="7" name="">
            <a:extLst xmlns:a="http://schemas.openxmlformats.org/drawingml/2006/main">
              <a:ext uri="{FF2B5EF4-FFF2-40B4-BE49-F238E27FC236}">
                <a16:creationId xmlns:a16="http://schemas.microsoft.com/office/drawing/2014/main" id="{43146D40-C7A3-42C1-A646-C155A8C1AD43}"/>
              </a:ext>
            </a:extLst>
          </p:cNvPr>
          <p:cNvSpPr>
            <a:spLocks xmlns:a="http://schemas.openxmlformats.org/drawingml/2006/main" noGrp="1"/>
          </p:cNvSpPr>
          <p:nvPr/>
        </p:nvSpPr>
        <p:spPr>
          <a:xfrm xmlns:a="http://schemas.openxmlformats.org/drawingml/2006/main">
            <a:off x="723900" y="4619625"/>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86B9A"/>
                </a:solidFill>
                <a:latin typeface="Noto Sans CJK KR"/>
                <a:ea typeface="Noto Sans CJK KR"/>
                <a:cs typeface="Noto Sans CJK KR"/>
              </a:defRPr>
            </a:pPr>
            <a:r>
              <a:rPr sz="2250" b="1">
                <a:solidFill>
                  <a:srgbClr val="186B9A"/>
                </a:solidFill>
                <a:latin typeface="Noto Sans CJK KR"/>
                <a:ea typeface="Noto Sans CJK KR"/>
                <a:cs typeface="Noto Sans CJK KR"/>
              </a:rPr>
              <a:t>최종 확인</a:t>
            </a:r>
          </a:p>
        </p:txBody>
      </p:sp>
      <p:sp>
        <p:nvSpPr>
          <p:cNvPr id="8" name="">
            <a:extLst xmlns:a="http://schemas.openxmlformats.org/drawingml/2006/main">
              <a:ext uri="{FF2B5EF4-FFF2-40B4-BE49-F238E27FC236}">
                <a16:creationId xmlns:a16="http://schemas.microsoft.com/office/drawing/2014/main" id="{DEBE9D9F-6B3A-469A-A131-3E618F78B5BB}"/>
              </a:ext>
            </a:extLst>
          </p:cNvPr>
          <p:cNvSpPr>
            <a:spLocks xmlns:a="http://schemas.openxmlformats.org/drawingml/2006/main" noGrp="1"/>
          </p:cNvSpPr>
          <p:nvPr/>
        </p:nvSpPr>
        <p:spPr>
          <a:xfrm xmlns:a="http://schemas.openxmlformats.org/drawingml/2006/main">
            <a:off x="723900" y="5095875"/>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D45"/>
                </a:solidFill>
                <a:latin typeface="Noto Sans CJK KR"/>
                <a:ea typeface="Noto Sans CJK KR"/>
                <a:cs typeface="Noto Sans CJK KR"/>
              </a:defRPr>
            </a:pPr>
            <a:r>
              <a:rPr sz="2025" b="0">
                <a:solidFill>
                  <a:srgbClr val="142D45"/>
                </a:solidFill>
                <a:latin typeface="Noto Sans CJK KR"/>
                <a:ea typeface="Noto Sans CJK KR"/>
                <a:cs typeface="Noto Sans CJK KR"/>
              </a:rPr>
              <a:t>탐색 비용 절감이 실제 게임 성능으로 이어지는 조건과 한계 규명.</a:t>
            </a:r>
          </a:p>
        </p:txBody>
      </p:sp>
    </p:spTree>
    <p:extLst>
      <p:ext uri="{BB962C8B-B14F-4D97-AF65-F5344CB8AC3E}">
        <p14:creationId xmlns:p14="http://schemas.microsoft.com/office/powerpoint/2010/main" val="114780293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2026-09-15T06:52:21.4760000Z</dcterms:created>
  <dcterms:modified xsi:type="dcterms:W3CDTF">2026-09-15T06:52:21.4760000Z</dcterms:modified>
</coreProperties>
</file>